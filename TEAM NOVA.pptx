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A2C9063A-B30D-C5E0-4FDE-A63B4E807275}">
          <p14:sldIdLst>
            <p14:sldId id="256"/>
          </p14:sldIdLst>
        </p14:section>
        <p14:section name="Problem and Solution" id="{C52FDD47-5F4E-BC5B-A339-1E24D92A1530}">
          <p14:sldIdLst>
            <p14:sldId id="257"/>
            <p14:sldId id="258"/>
          </p14:sldIdLst>
        </p14:section>
        <p14:section name="Features and Build" id="{7D6C5BAF-9A43-FA32-2676-5AFDFE6CFB41}">
          <p14:sldIdLst>
            <p14:sldId id="259"/>
            <p14:sldId id="260"/>
          </p14:sldIdLst>
        </p14:section>
        <p14:section name="Budget and Team" id="{55B22FF3-98DE-AA77-7995-EC0874F23A01}">
          <p14:sldIdLst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127B12-71EC-4AC1-894F-977F26EDE2F0}" v="1" dt="2026-10-20T05:52:53.0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28" y="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praneetha" userId="af4c7ae2e88840f4" providerId="LiveId" clId="{21FC2333-3D36-4E40-B1AD-7F00EF4F50FE}"/>
    <pc:docChg chg="custSel modSld sldOrd">
      <pc:chgData name="sai praneetha" userId="af4c7ae2e88840f4" providerId="LiveId" clId="{21FC2333-3D36-4E40-B1AD-7F00EF4F50FE}" dt="2026-10-20T06:24:27.688" v="30" actId="20577"/>
      <pc:docMkLst>
        <pc:docMk/>
      </pc:docMkLst>
      <pc:sldChg chg="delSp modSp mod">
        <pc:chgData name="sai praneetha" userId="af4c7ae2e88840f4" providerId="LiveId" clId="{21FC2333-3D36-4E40-B1AD-7F00EF4F50FE}" dt="2026-10-20T06:20:24.800" v="17" actId="478"/>
        <pc:sldMkLst>
          <pc:docMk/>
          <pc:sldMk cId="0" sldId="256"/>
        </pc:sldMkLst>
        <pc:spChg chg="del mod">
          <ac:chgData name="sai praneetha" userId="af4c7ae2e88840f4" providerId="LiveId" clId="{21FC2333-3D36-4E40-B1AD-7F00EF4F50FE}" dt="2026-10-20T06:20:24.800" v="17" actId="478"/>
          <ac:spMkLst>
            <pc:docMk/>
            <pc:sldMk cId="0" sldId="256"/>
            <ac:spMk id="26" creationId="{00000000-0000-0000-0000-000000000000}"/>
          </ac:spMkLst>
        </pc:spChg>
      </pc:sldChg>
      <pc:sldChg chg="modSp mod">
        <pc:chgData name="sai praneetha" userId="af4c7ae2e88840f4" providerId="LiveId" clId="{21FC2333-3D36-4E40-B1AD-7F00EF4F50FE}" dt="2026-10-20T06:20:31.235" v="19" actId="20577"/>
        <pc:sldMkLst>
          <pc:docMk/>
          <pc:sldMk cId="0" sldId="257"/>
        </pc:sldMkLst>
        <pc:spChg chg="mod">
          <ac:chgData name="sai praneetha" userId="af4c7ae2e88840f4" providerId="LiveId" clId="{21FC2333-3D36-4E40-B1AD-7F00EF4F50FE}" dt="2026-10-20T06:20:31.235" v="19" actId="20577"/>
          <ac:spMkLst>
            <pc:docMk/>
            <pc:sldMk cId="0" sldId="257"/>
            <ac:spMk id="32" creationId="{00000000-0000-0000-0000-000000000000}"/>
          </ac:spMkLst>
        </pc:spChg>
      </pc:sldChg>
      <pc:sldChg chg="addSp delSp modSp mod">
        <pc:chgData name="sai praneetha" userId="af4c7ae2e88840f4" providerId="LiveId" clId="{21FC2333-3D36-4E40-B1AD-7F00EF4F50FE}" dt="2026-10-20T06:20:37.032" v="20" actId="20577"/>
        <pc:sldMkLst>
          <pc:docMk/>
          <pc:sldMk cId="0" sldId="258"/>
        </pc:sldMkLst>
        <pc:spChg chg="add del mod">
          <ac:chgData name="sai praneetha" userId="af4c7ae2e88840f4" providerId="LiveId" clId="{21FC2333-3D36-4E40-B1AD-7F00EF4F50FE}" dt="2026-10-20T05:52:56.879" v="1"/>
          <ac:spMkLst>
            <pc:docMk/>
            <pc:sldMk cId="0" sldId="258"/>
            <ac:spMk id="21" creationId="{7C7B08A9-81FC-5E22-76FA-61B2C205E59A}"/>
          </ac:spMkLst>
        </pc:spChg>
        <pc:spChg chg="mod">
          <ac:chgData name="sai praneetha" userId="af4c7ae2e88840f4" providerId="LiveId" clId="{21FC2333-3D36-4E40-B1AD-7F00EF4F50FE}" dt="2026-10-20T06:20:37.032" v="20" actId="20577"/>
          <ac:spMkLst>
            <pc:docMk/>
            <pc:sldMk cId="0" sldId="258"/>
            <ac:spMk id="35" creationId="{00000000-0000-0000-0000-000000000000}"/>
          </ac:spMkLst>
        </pc:spChg>
      </pc:sldChg>
      <pc:sldChg chg="modSp mod">
        <pc:chgData name="sai praneetha" userId="af4c7ae2e88840f4" providerId="LiveId" clId="{21FC2333-3D36-4E40-B1AD-7F00EF4F50FE}" dt="2026-10-20T06:20:41.411" v="21" actId="20577"/>
        <pc:sldMkLst>
          <pc:docMk/>
          <pc:sldMk cId="0" sldId="259"/>
        </pc:sldMkLst>
        <pc:spChg chg="mod">
          <ac:chgData name="sai praneetha" userId="af4c7ae2e88840f4" providerId="LiveId" clId="{21FC2333-3D36-4E40-B1AD-7F00EF4F50FE}" dt="2026-10-20T06:20:41.411" v="21" actId="20577"/>
          <ac:spMkLst>
            <pc:docMk/>
            <pc:sldMk cId="0" sldId="259"/>
            <ac:spMk id="52" creationId="{00000000-0000-0000-0000-000000000000}"/>
          </ac:spMkLst>
        </pc:spChg>
      </pc:sldChg>
      <pc:sldChg chg="modSp mod ord">
        <pc:chgData name="sai praneetha" userId="af4c7ae2e88840f4" providerId="LiveId" clId="{21FC2333-3D36-4E40-B1AD-7F00EF4F50FE}" dt="2026-10-20T06:20:46.942" v="22" actId="20577"/>
        <pc:sldMkLst>
          <pc:docMk/>
          <pc:sldMk cId="0" sldId="260"/>
        </pc:sldMkLst>
        <pc:spChg chg="mod">
          <ac:chgData name="sai praneetha" userId="af4c7ae2e88840f4" providerId="LiveId" clId="{21FC2333-3D36-4E40-B1AD-7F00EF4F50FE}" dt="2026-10-20T06:04:23.983" v="13" actId="20577"/>
          <ac:spMkLst>
            <pc:docMk/>
            <pc:sldMk cId="0" sldId="260"/>
            <ac:spMk id="38" creationId="{00000000-0000-0000-0000-000000000000}"/>
          </ac:spMkLst>
        </pc:spChg>
        <pc:spChg chg="mod">
          <ac:chgData name="sai praneetha" userId="af4c7ae2e88840f4" providerId="LiveId" clId="{21FC2333-3D36-4E40-B1AD-7F00EF4F50FE}" dt="2026-10-20T06:04:38.758" v="16" actId="20577"/>
          <ac:spMkLst>
            <pc:docMk/>
            <pc:sldMk cId="0" sldId="260"/>
            <ac:spMk id="41" creationId="{00000000-0000-0000-0000-000000000000}"/>
          </ac:spMkLst>
        </pc:spChg>
        <pc:spChg chg="mod">
          <ac:chgData name="sai praneetha" userId="af4c7ae2e88840f4" providerId="LiveId" clId="{21FC2333-3D36-4E40-B1AD-7F00EF4F50FE}" dt="2026-10-20T06:20:46.942" v="22" actId="20577"/>
          <ac:spMkLst>
            <pc:docMk/>
            <pc:sldMk cId="0" sldId="260"/>
            <ac:spMk id="46" creationId="{00000000-0000-0000-0000-000000000000}"/>
          </ac:spMkLst>
        </pc:spChg>
      </pc:sldChg>
      <pc:sldChg chg="modSp mod">
        <pc:chgData name="sai praneetha" userId="af4c7ae2e88840f4" providerId="LiveId" clId="{21FC2333-3D36-4E40-B1AD-7F00EF4F50FE}" dt="2026-10-20T06:21:02.865" v="25" actId="20577"/>
        <pc:sldMkLst>
          <pc:docMk/>
          <pc:sldMk cId="0" sldId="261"/>
        </pc:sldMkLst>
        <pc:spChg chg="mod">
          <ac:chgData name="sai praneetha" userId="af4c7ae2e88840f4" providerId="LiveId" clId="{21FC2333-3D36-4E40-B1AD-7F00EF4F50FE}" dt="2026-10-20T06:21:02.865" v="25" actId="20577"/>
          <ac:spMkLst>
            <pc:docMk/>
            <pc:sldMk cId="0" sldId="261"/>
            <ac:spMk id="27" creationId="{00000000-0000-0000-0000-000000000000}"/>
          </ac:spMkLst>
        </pc:spChg>
      </pc:sldChg>
      <pc:sldChg chg="modSp mod">
        <pc:chgData name="sai praneetha" userId="af4c7ae2e88840f4" providerId="LiveId" clId="{21FC2333-3D36-4E40-B1AD-7F00EF4F50FE}" dt="2026-10-20T06:20:57.013" v="24" actId="20577"/>
        <pc:sldMkLst>
          <pc:docMk/>
          <pc:sldMk cId="0" sldId="262"/>
        </pc:sldMkLst>
        <pc:spChg chg="mod">
          <ac:chgData name="sai praneetha" userId="af4c7ae2e88840f4" providerId="LiveId" clId="{21FC2333-3D36-4E40-B1AD-7F00EF4F50FE}" dt="2026-10-20T06:20:57.013" v="24" actId="20577"/>
          <ac:spMkLst>
            <pc:docMk/>
            <pc:sldMk cId="0" sldId="262"/>
            <ac:spMk id="38" creationId="{00000000-0000-0000-0000-000000000000}"/>
          </ac:spMkLst>
        </pc:spChg>
      </pc:sldChg>
      <pc:sldChg chg="modSp mod">
        <pc:chgData name="sai praneetha" userId="af4c7ae2e88840f4" providerId="LiveId" clId="{21FC2333-3D36-4E40-B1AD-7F00EF4F50FE}" dt="2026-10-20T06:24:27.688" v="30" actId="20577"/>
        <pc:sldMkLst>
          <pc:docMk/>
          <pc:sldMk cId="0" sldId="263"/>
        </pc:sldMkLst>
        <pc:spChg chg="mod">
          <ac:chgData name="sai praneetha" userId="af4c7ae2e88840f4" providerId="LiveId" clId="{21FC2333-3D36-4E40-B1AD-7F00EF4F50FE}" dt="2026-10-20T06:24:27.688" v="30" actId="20577"/>
          <ac:spMkLst>
            <pc:docMk/>
            <pc:sldMk cId="0" sldId="263"/>
            <ac:spMk id="4" creationId="{00000000-0000-0000-0000-000000000000}"/>
          </ac:spMkLst>
        </pc:spChg>
        <pc:spChg chg="mod">
          <ac:chgData name="sai praneetha" userId="af4c7ae2e88840f4" providerId="LiveId" clId="{21FC2333-3D36-4E40-B1AD-7F00EF4F50FE}" dt="2026-10-20T06:20:52.640" v="23" actId="20577"/>
          <ac:spMkLst>
            <pc:docMk/>
            <pc:sldMk cId="0" sldId="263"/>
            <ac:spMk id="3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279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47395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YUKTHI 2026  •  NOVA  •  KSRM College of Engineering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E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647395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YUKTHI 2026  •  NOVA  •  KSRM College of Engineering</a:t>
            </a:r>
            <a:endParaRPr lang="en-US" sz="10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1097280" y="201168"/>
            <a:ext cx="10515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1097280" y="749808"/>
            <a:ext cx="10515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anel"/>
          <p:cNvSpPr/>
          <p:nvPr/>
        </p:nvSpPr>
        <p:spPr>
          <a:xfrm>
            <a:off x="411480" y="400377"/>
            <a:ext cx="11338560" cy="5897880"/>
          </a:xfrm>
          <a:prstGeom prst="roundRect">
            <a:avLst>
              <a:gd name="adj" fmla="val 6977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en-US" dirty="0"/>
              <a:t>  </a:t>
            </a:r>
            <a:endParaRPr lang="en-IN" dirty="0"/>
          </a:p>
        </p:txBody>
      </p:sp>
      <p:sp>
        <p:nvSpPr>
          <p:cNvPr id="3" name="Event"/>
          <p:cNvSpPr txBox="1"/>
          <p:nvPr/>
        </p:nvSpPr>
        <p:spPr>
          <a:xfrm>
            <a:off x="868680" y="7772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YUKTHI 2026  |  TECHNICAL HACKATHON</a:t>
            </a:r>
            <a:endParaRPr lang="en-US" sz="1400" dirty="0"/>
          </a:p>
        </p:txBody>
      </p:sp>
      <p:sp>
        <p:nvSpPr>
          <p:cNvPr id="4" name="Project name"/>
          <p:cNvSpPr txBox="1"/>
          <p:nvPr/>
        </p:nvSpPr>
        <p:spPr>
          <a:xfrm>
            <a:off x="868680" y="118872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chemeClr val="tx1"/>
                </a:solidFill>
              </a:rPr>
              <a:t>PARK EASY</a:t>
            </a:r>
            <a:endParaRPr lang="en-US" sz="6400" dirty="0"/>
          </a:p>
        </p:txBody>
      </p:sp>
      <p:sp>
        <p:nvSpPr>
          <p:cNvPr id="5" name="Subtitle"/>
          <p:cNvSpPr txBox="1"/>
          <p:nvPr/>
        </p:nvSpPr>
        <p:spPr>
          <a:xfrm>
            <a:off x="868680" y="224028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1"/>
                </a:solidFill>
              </a:rPr>
              <a:t>THE AI PARKING ASSISTANT</a:t>
            </a:r>
            <a:endParaRPr lang="en-US" sz="2600" dirty="0"/>
          </a:p>
        </p:txBody>
      </p:sp>
      <p:sp>
        <p:nvSpPr>
          <p:cNvPr id="6" name="Tagline"/>
          <p:cNvSpPr txBox="1"/>
          <p:nvPr/>
        </p:nvSpPr>
        <p:spPr>
          <a:xfrm>
            <a:off x="868680" y="27889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chemeClr val="accent2"/>
                </a:solidFill>
              </a:rPr>
              <a:t>Smart Parking. Less Traffic. Better Cities.</a:t>
            </a:r>
            <a:endParaRPr lang="en-US" sz="1800" dirty="0"/>
          </a:p>
        </p:txBody>
      </p:sp>
      <p:sp>
        <p:nvSpPr>
          <p:cNvPr id="7" name="Theme chip"/>
          <p:cNvSpPr/>
          <p:nvPr/>
        </p:nvSpPr>
        <p:spPr>
          <a:xfrm>
            <a:off x="868680" y="3383280"/>
            <a:ext cx="2926080" cy="457200"/>
          </a:xfrm>
          <a:prstGeom prst="roundRect">
            <a:avLst>
              <a:gd name="adj" fmla="val 24000"/>
            </a:avLst>
          </a:prstGeom>
          <a:solidFill>
            <a:schemeClr val="bg2"/>
          </a:solidFill>
          <a:ln w="12700">
            <a:solidFill>
              <a:schemeClr val="accent6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Theme: AI and Automation</a:t>
            </a:r>
            <a:endParaRPr lang="en-US" sz="1400" dirty="0"/>
          </a:p>
        </p:txBody>
      </p:sp>
      <p:sp>
        <p:nvSpPr>
          <p:cNvPr id="8" name="Team details"/>
          <p:cNvSpPr txBox="1"/>
          <p:nvPr/>
        </p:nvSpPr>
        <p:spPr>
          <a:xfrm>
            <a:off x="868680" y="411480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Team Name: </a:t>
            </a:r>
            <a:r>
              <a:rPr lang="en-US" sz="1700" dirty="0">
                <a:solidFill>
                  <a:schemeClr val="tx1"/>
                </a:solidFill>
              </a:rPr>
              <a:t>NOVA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Team Members: </a:t>
            </a:r>
            <a:r>
              <a:rPr lang="en-US" sz="1700" dirty="0">
                <a:solidFill>
                  <a:schemeClr val="tx1"/>
                </a:solidFill>
              </a:rPr>
              <a:t>6 Members</a:t>
            </a:r>
            <a:endParaRPr lang="en-US" sz="17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accent1"/>
                </a:solidFill>
              </a:rPr>
              <a:t>Institution: </a:t>
            </a:r>
            <a:r>
              <a:rPr lang="en-US" sz="1700" dirty="0">
                <a:solidFill>
                  <a:schemeClr val="tx1"/>
                </a:solidFill>
              </a:rPr>
              <a:t>KSRM College of Engineering (KSRMCE)</a:t>
            </a:r>
            <a:endParaRPr lang="en-US" sz="1700" dirty="0"/>
          </a:p>
        </p:txBody>
      </p:sp>
      <p:sp>
        <p:nvSpPr>
          <p:cNvPr id="9" name="Project overview"/>
          <p:cNvSpPr txBox="1"/>
          <p:nvPr/>
        </p:nvSpPr>
        <p:spPr>
          <a:xfrm>
            <a:off x="868680" y="5303520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An intelligent, parking management system that detects parking availability in real time and guides drivers toward vacant parking spaces.</a:t>
            </a:r>
            <a:endParaRPr lang="en-US" sz="1400" dirty="0"/>
          </a:p>
        </p:txBody>
      </p:sp>
      <p:sp>
        <p:nvSpPr>
          <p:cNvPr id="10" name="Photo frame"/>
          <p:cNvSpPr/>
          <p:nvPr/>
        </p:nvSpPr>
        <p:spPr>
          <a:xfrm>
            <a:off x="7069361" y="548640"/>
            <a:ext cx="4560759" cy="5477256"/>
          </a:xfrm>
          <a:prstGeom prst="roundRect">
            <a:avLst>
              <a:gd name="adj" fmla="val 4010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6062AD1-23D7-FF21-C891-C20857CAA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0800" y="631371"/>
            <a:ext cx="4410713" cy="53231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 badge"/>
          <p:cNvSpPr/>
          <p:nvPr/>
        </p:nvSpPr>
        <p:spPr>
          <a:xfrm>
            <a:off x="475488" y="237744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Slide number text"/>
          <p:cNvSpPr txBox="1"/>
          <p:nvPr/>
        </p:nvSpPr>
        <p:spPr>
          <a:xfrm>
            <a:off x="475488" y="2377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02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1097280" y="2011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Problem Statement</a:t>
            </a:r>
            <a:endParaRPr lang="en-US" sz="3000" dirty="0"/>
          </a:p>
        </p:txBody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1097280" y="7498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The Problem: Inefficient Parking Management</a:t>
            </a:r>
            <a:endParaRPr lang="en-US" sz="1400" dirty="0"/>
          </a:p>
        </p:txBody>
      </p:sp>
      <p:sp>
        <p:nvSpPr>
          <p:cNvPr id="6" name="Problem card"/>
          <p:cNvSpPr/>
          <p:nvPr/>
        </p:nvSpPr>
        <p:spPr>
          <a:xfrm>
            <a:off x="594360" y="1280160"/>
            <a:ext cx="6035040" cy="4892040"/>
          </a:xfrm>
          <a:prstGeom prst="roundRect">
            <a:avLst>
              <a:gd name="adj" fmla="val 3364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Problem heading"/>
          <p:cNvSpPr txBox="1"/>
          <p:nvPr/>
        </p:nvSpPr>
        <p:spPr>
          <a:xfrm>
            <a:off x="914400" y="15087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What problem are we solving?</a:t>
            </a:r>
            <a:endParaRPr lang="en-US" sz="2200" dirty="0"/>
          </a:p>
        </p:txBody>
      </p:sp>
      <p:sp>
        <p:nvSpPr>
          <p:cNvPr id="8" name="Problem text"/>
          <p:cNvSpPr txBox="1"/>
          <p:nvPr/>
        </p:nvSpPr>
        <p:spPr>
          <a:xfrm>
            <a:off x="914400" y="2103120"/>
            <a:ext cx="5440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Finding an available parking space in crowded locations such as colleges, shopping centres, hospitals and offices is often time-consuming.</a:t>
            </a:r>
            <a:endParaRPr lang="en-US" sz="16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Traditional systems make drivers search manually, causing unnecessary vehicle movement.</a:t>
            </a:r>
            <a:endParaRPr lang="en-US" sz="1600" dirty="0"/>
          </a:p>
        </p:txBody>
      </p:sp>
      <p:sp>
        <p:nvSpPr>
          <p:cNvPr id="9" name="Problem statement box"/>
          <p:cNvSpPr/>
          <p:nvPr/>
        </p:nvSpPr>
        <p:spPr>
          <a:xfrm>
            <a:off x="914400" y="3886200"/>
            <a:ext cx="5440680" cy="2011680"/>
          </a:xfrm>
          <a:prstGeom prst="roundRect">
            <a:avLst>
              <a:gd name="adj" fmla="val 7179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10" name="Statement label"/>
          <p:cNvSpPr txBox="1"/>
          <p:nvPr/>
        </p:nvSpPr>
        <p:spPr>
          <a:xfrm>
            <a:off x="1143000" y="3977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accent2"/>
                </a:solidFill>
              </a:rPr>
              <a:t>PROBLEM STATEMENT</a:t>
            </a:r>
            <a:endParaRPr lang="en-US" dirty="0"/>
          </a:p>
        </p:txBody>
      </p:sp>
      <p:sp>
        <p:nvSpPr>
          <p:cNvPr id="11" name="Statement text"/>
          <p:cNvSpPr txBox="1"/>
          <p:nvPr/>
        </p:nvSpPr>
        <p:spPr>
          <a:xfrm>
            <a:off x="1143000" y="4498848"/>
            <a:ext cx="502920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How can we develop an affordable, intelligent parking system that automatically detects vacant spaces, displays real-time availability, and guides drivers to suitable parking locations?</a:t>
            </a:r>
            <a:endParaRPr lang="en-US" sz="1700" dirty="0"/>
          </a:p>
        </p:txBody>
      </p:sp>
      <p:sp>
        <p:nvSpPr>
          <p:cNvPr id="12" name="Challenges card"/>
          <p:cNvSpPr/>
          <p:nvPr/>
        </p:nvSpPr>
        <p:spPr>
          <a:xfrm>
            <a:off x="6949440" y="1280160"/>
            <a:ext cx="4663440" cy="4892040"/>
          </a:xfrm>
          <a:prstGeom prst="roundRect">
            <a:avLst>
              <a:gd name="adj" fmla="val 3529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Challenges heading"/>
          <p:cNvSpPr txBox="1"/>
          <p:nvPr/>
        </p:nvSpPr>
        <p:spPr>
          <a:xfrm>
            <a:off x="7269480" y="15087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Key challenges</a:t>
            </a:r>
            <a:endParaRPr lang="en-US" sz="2200" dirty="0"/>
          </a:p>
        </p:txBody>
      </p:sp>
      <p:sp>
        <p:nvSpPr>
          <p:cNvPr id="14" name="Challenge row 1"/>
          <p:cNvSpPr/>
          <p:nvPr/>
        </p:nvSpPr>
        <p:spPr>
          <a:xfrm>
            <a:off x="7223760" y="2057400"/>
            <a:ext cx="41148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5" name="Badge 1"/>
          <p:cNvSpPr/>
          <p:nvPr/>
        </p:nvSpPr>
        <p:spPr>
          <a:xfrm>
            <a:off x="7360920" y="230428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16" name="Challenge title 1"/>
          <p:cNvSpPr txBox="1"/>
          <p:nvPr/>
        </p:nvSpPr>
        <p:spPr>
          <a:xfrm>
            <a:off x="7955280" y="213055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Real-Time Slot Detection</a:t>
            </a:r>
            <a:endParaRPr lang="en-US" sz="1500" dirty="0"/>
          </a:p>
        </p:txBody>
      </p:sp>
      <p:sp>
        <p:nvSpPr>
          <p:cNvPr id="17" name="Challenge text 1"/>
          <p:cNvSpPr txBox="1"/>
          <p:nvPr/>
        </p:nvSpPr>
        <p:spPr>
          <a:xfrm>
            <a:off x="7955280" y="24231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Detecting whether parking spaces are occupied or available using sensors.</a:t>
            </a:r>
            <a:endParaRPr lang="en-US" sz="1250" dirty="0"/>
          </a:p>
        </p:txBody>
      </p:sp>
      <p:sp>
        <p:nvSpPr>
          <p:cNvPr id="18" name="Challenge row 2"/>
          <p:cNvSpPr/>
          <p:nvPr/>
        </p:nvSpPr>
        <p:spPr>
          <a:xfrm>
            <a:off x="7223760" y="3063240"/>
            <a:ext cx="41148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9" name="Badge 2"/>
          <p:cNvSpPr/>
          <p:nvPr/>
        </p:nvSpPr>
        <p:spPr>
          <a:xfrm>
            <a:off x="7360920" y="3310128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20" name="Challenge title 2"/>
          <p:cNvSpPr txBox="1"/>
          <p:nvPr/>
        </p:nvSpPr>
        <p:spPr>
          <a:xfrm>
            <a:off x="7955280" y="31363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Multi-Floor Parking Management</a:t>
            </a:r>
            <a:endParaRPr lang="en-US" sz="1500" dirty="0"/>
          </a:p>
        </p:txBody>
      </p:sp>
      <p:sp>
        <p:nvSpPr>
          <p:cNvPr id="21" name="Challenge text 2"/>
          <p:cNvSpPr txBox="1"/>
          <p:nvPr/>
        </p:nvSpPr>
        <p:spPr>
          <a:xfrm>
            <a:off x="7955280" y="34290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Monitoring available parking spaces across multiple floors simultaneously.</a:t>
            </a:r>
            <a:endParaRPr lang="en-US" sz="1250" dirty="0"/>
          </a:p>
        </p:txBody>
      </p:sp>
      <p:sp>
        <p:nvSpPr>
          <p:cNvPr id="22" name="Challenge row 3"/>
          <p:cNvSpPr/>
          <p:nvPr/>
        </p:nvSpPr>
        <p:spPr>
          <a:xfrm>
            <a:off x="7223760" y="4069080"/>
            <a:ext cx="41148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23" name="Badge 3"/>
          <p:cNvSpPr/>
          <p:nvPr/>
        </p:nvSpPr>
        <p:spPr>
          <a:xfrm>
            <a:off x="7360920" y="4315968"/>
            <a:ext cx="420624" cy="420624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24" name="Challenge title 3"/>
          <p:cNvSpPr txBox="1"/>
          <p:nvPr/>
        </p:nvSpPr>
        <p:spPr>
          <a:xfrm>
            <a:off x="7914132" y="413308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500" b="1" dirty="0"/>
              <a:t>Real-Time Data Updates</a:t>
            </a:r>
            <a:endParaRPr lang="en-US" sz="1500" dirty="0"/>
          </a:p>
        </p:txBody>
      </p:sp>
      <p:sp>
        <p:nvSpPr>
          <p:cNvPr id="25" name="Challenge text 3"/>
          <p:cNvSpPr txBox="1"/>
          <p:nvPr/>
        </p:nvSpPr>
        <p:spPr>
          <a:xfrm>
            <a:off x="7955280" y="44348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400" dirty="0"/>
              <a:t>Updating the display immediately whenever a vehicle enters or leaves a parking slot.</a:t>
            </a:r>
            <a:endParaRPr lang="en-US" sz="1250" dirty="0"/>
          </a:p>
        </p:txBody>
      </p:sp>
      <p:sp>
        <p:nvSpPr>
          <p:cNvPr id="26" name="Challenge row 4"/>
          <p:cNvSpPr/>
          <p:nvPr/>
        </p:nvSpPr>
        <p:spPr>
          <a:xfrm>
            <a:off x="7223760" y="5074920"/>
            <a:ext cx="411480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27" name="Badge 4"/>
          <p:cNvSpPr/>
          <p:nvPr/>
        </p:nvSpPr>
        <p:spPr>
          <a:xfrm>
            <a:off x="7360920" y="5321808"/>
            <a:ext cx="420624" cy="420624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8" name="Challenge title 4"/>
          <p:cNvSpPr txBox="1"/>
          <p:nvPr/>
        </p:nvSpPr>
        <p:spPr>
          <a:xfrm>
            <a:off x="7955280" y="514807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500" b="1" dirty="0"/>
              <a:t>Accurate Slot Identification</a:t>
            </a:r>
            <a:endParaRPr lang="en-US" sz="1500" dirty="0"/>
          </a:p>
        </p:txBody>
      </p:sp>
      <p:sp>
        <p:nvSpPr>
          <p:cNvPr id="29" name="Challenge text 4"/>
          <p:cNvSpPr txBox="1"/>
          <p:nvPr/>
        </p:nvSpPr>
        <p:spPr>
          <a:xfrm>
            <a:off x="7955280" y="5440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400" dirty="0"/>
              <a:t>Displaying the correct parking slot number and floor on the display.</a:t>
            </a:r>
          </a:p>
          <a:p>
            <a:endParaRPr lang="en-US" sz="12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31" name="Footer mask - KSRM removed"/>
          <p:cNvSpPr/>
          <p:nvPr/>
        </p:nvSpPr>
        <p:spPr>
          <a:xfrm>
            <a:off x="1645920" y="6419088"/>
            <a:ext cx="1993392" cy="283464"/>
          </a:xfrm>
          <a:prstGeom prst="rect">
            <a:avLst/>
          </a:prstGeom>
          <a:solidFill>
            <a:srgbClr val="EB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NOVA watermark"/>
          <p:cNvSpPr txBox="1"/>
          <p:nvPr userDrawn="1"/>
        </p:nvSpPr>
        <p:spPr>
          <a:xfrm rot="-1200000">
            <a:off x="1524000" y="1943100"/>
            <a:ext cx="9144000" cy="2971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endParaRPr lang="en-US" sz="17000" b="1" spc="0" dirty="0">
              <a:solidFill>
                <a:schemeClr val="bg1">
                  <a:lumMod val="85000"/>
                  <a:alpha val="8000"/>
                </a:schemeClr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 badge"/>
          <p:cNvSpPr/>
          <p:nvPr/>
        </p:nvSpPr>
        <p:spPr>
          <a:xfrm>
            <a:off x="475488" y="237744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Slide number text"/>
          <p:cNvSpPr txBox="1"/>
          <p:nvPr/>
        </p:nvSpPr>
        <p:spPr>
          <a:xfrm>
            <a:off x="475488" y="2377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03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1097280" y="2011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Proposed Solution</a:t>
            </a:r>
            <a:endParaRPr lang="en-US" sz="3000" dirty="0"/>
          </a:p>
        </p:txBody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1097280" y="7498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Goal: cut parking search time and make parking management smarter and more convenient</a:t>
            </a:r>
            <a:endParaRPr lang="en-US" sz="1400" dirty="0"/>
          </a:p>
        </p:txBody>
      </p:sp>
      <p:sp>
        <p:nvSpPr>
          <p:cNvPr id="6" name="Steps card"/>
          <p:cNvSpPr/>
          <p:nvPr/>
        </p:nvSpPr>
        <p:spPr>
          <a:xfrm>
            <a:off x="594360" y="1280160"/>
            <a:ext cx="5120640" cy="4892040"/>
          </a:xfrm>
          <a:prstGeom prst="roundRect">
            <a:avLst>
              <a:gd name="adj" fmla="val 3364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teps heading"/>
          <p:cNvSpPr txBox="1"/>
          <p:nvPr/>
        </p:nvSpPr>
        <p:spPr>
          <a:xfrm>
            <a:off x="914400" y="15087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How Park Easy works</a:t>
            </a:r>
            <a:endParaRPr lang="en-US" sz="2200" dirty="0"/>
          </a:p>
        </p:txBody>
      </p:sp>
      <p:sp>
        <p:nvSpPr>
          <p:cNvPr id="8" name="Badge 1"/>
          <p:cNvSpPr/>
          <p:nvPr/>
        </p:nvSpPr>
        <p:spPr>
          <a:xfrm>
            <a:off x="914400" y="223113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9" name="Step text 1"/>
          <p:cNvSpPr txBox="1"/>
          <p:nvPr/>
        </p:nvSpPr>
        <p:spPr>
          <a:xfrm>
            <a:off x="1508760" y="2103120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Sensors detect whether a vehicle is present in a parking slot.</a:t>
            </a:r>
            <a:endParaRPr lang="en-US" sz="1500" dirty="0"/>
          </a:p>
        </p:txBody>
      </p:sp>
      <p:sp>
        <p:nvSpPr>
          <p:cNvPr id="10" name="Badge 2"/>
          <p:cNvSpPr/>
          <p:nvPr/>
        </p:nvSpPr>
        <p:spPr>
          <a:xfrm>
            <a:off x="914400" y="3035808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Step text 2"/>
          <p:cNvSpPr txBox="1"/>
          <p:nvPr/>
        </p:nvSpPr>
        <p:spPr>
          <a:xfrm>
            <a:off x="1508760" y="2907792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An ESP32 or Arduino collects the sensor data.</a:t>
            </a:r>
            <a:endParaRPr lang="en-US" sz="1500" dirty="0"/>
          </a:p>
        </p:txBody>
      </p:sp>
      <p:sp>
        <p:nvSpPr>
          <p:cNvPr id="12" name="Badge 3"/>
          <p:cNvSpPr/>
          <p:nvPr/>
        </p:nvSpPr>
        <p:spPr>
          <a:xfrm>
            <a:off x="914400" y="3840480"/>
            <a:ext cx="402336" cy="402336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Step text 3"/>
          <p:cNvSpPr txBox="1"/>
          <p:nvPr/>
        </p:nvSpPr>
        <p:spPr>
          <a:xfrm>
            <a:off x="1508760" y="3712464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Wi-Fi transmits the parking status to the dashboard.</a:t>
            </a:r>
            <a:endParaRPr lang="en-US" sz="1500" dirty="0"/>
          </a:p>
        </p:txBody>
      </p:sp>
      <p:sp>
        <p:nvSpPr>
          <p:cNvPr id="14" name="Badge 4"/>
          <p:cNvSpPr/>
          <p:nvPr/>
        </p:nvSpPr>
        <p:spPr>
          <a:xfrm>
            <a:off x="914400" y="4645152"/>
            <a:ext cx="402336" cy="402336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5" name="Step text 4"/>
          <p:cNvSpPr txBox="1"/>
          <p:nvPr/>
        </p:nvSpPr>
        <p:spPr>
          <a:xfrm>
            <a:off x="1508760" y="4517136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The dashboard displays available slots.</a:t>
            </a:r>
            <a:endParaRPr lang="en-US" sz="1500" dirty="0"/>
          </a:p>
        </p:txBody>
      </p:sp>
      <p:sp>
        <p:nvSpPr>
          <p:cNvPr id="16" name="Badge 5"/>
          <p:cNvSpPr/>
          <p:nvPr/>
        </p:nvSpPr>
        <p:spPr>
          <a:xfrm>
            <a:off x="914400" y="5449824"/>
            <a:ext cx="402336" cy="402336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17" name="Step text 5"/>
          <p:cNvSpPr txBox="1"/>
          <p:nvPr/>
        </p:nvSpPr>
        <p:spPr>
          <a:xfrm>
            <a:off x="1508760" y="5321808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Drivers identify a suitable space before entering the parking area.</a:t>
            </a:r>
            <a:endParaRPr lang="en-US" sz="1500" dirty="0"/>
          </a:p>
        </p:txBody>
      </p:sp>
      <p:sp>
        <p:nvSpPr>
          <p:cNvPr id="18" name="Example card"/>
          <p:cNvSpPr/>
          <p:nvPr/>
        </p:nvSpPr>
        <p:spPr>
          <a:xfrm>
            <a:off x="6035040" y="1280160"/>
            <a:ext cx="5577840" cy="4892040"/>
          </a:xfrm>
          <a:prstGeom prst="roundRect">
            <a:avLst>
              <a:gd name="adj" fmla="val 3364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Example heading"/>
          <p:cNvSpPr txBox="1"/>
          <p:nvPr/>
        </p:nvSpPr>
        <p:spPr>
          <a:xfrm>
            <a:off x="6355080" y="1463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Example: our prototype</a:t>
            </a:r>
            <a:endParaRPr lang="en-US" sz="2200" dirty="0"/>
          </a:p>
        </p:txBody>
      </p:sp>
      <p:sp>
        <p:nvSpPr>
          <p:cNvPr id="20" name="Prototype photo frame"/>
          <p:cNvSpPr/>
          <p:nvPr/>
        </p:nvSpPr>
        <p:spPr>
          <a:xfrm>
            <a:off x="6327648" y="1984248"/>
            <a:ext cx="3255264" cy="3911600"/>
          </a:xfrm>
          <a:prstGeom prst="roundRect">
            <a:avLst>
              <a:gd name="adj" fmla="val 337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Stat tile 1"/>
          <p:cNvSpPr/>
          <p:nvPr/>
        </p:nvSpPr>
        <p:spPr>
          <a:xfrm>
            <a:off x="9738360" y="2057400"/>
            <a:ext cx="1645920" cy="896112"/>
          </a:xfrm>
          <a:prstGeom prst="roundRect">
            <a:avLst>
              <a:gd name="adj" fmla="val 10204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23" name="Stat value 1"/>
          <p:cNvSpPr txBox="1"/>
          <p:nvPr/>
        </p:nvSpPr>
        <p:spPr>
          <a:xfrm>
            <a:off x="9738360" y="208483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1"/>
                </a:solidFill>
              </a:rPr>
              <a:t>8</a:t>
            </a:r>
            <a:endParaRPr lang="en-US" sz="3400" dirty="0"/>
          </a:p>
        </p:txBody>
      </p:sp>
      <p:sp>
        <p:nvSpPr>
          <p:cNvPr id="24" name="Stat label 1"/>
          <p:cNvSpPr txBox="1"/>
          <p:nvPr/>
        </p:nvSpPr>
        <p:spPr>
          <a:xfrm>
            <a:off x="9738360" y="26517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TOTAL SLOTS</a:t>
            </a:r>
            <a:endParaRPr lang="en-US" sz="1100" dirty="0"/>
          </a:p>
        </p:txBody>
      </p:sp>
      <p:sp>
        <p:nvSpPr>
          <p:cNvPr id="25" name="Stat tile 2"/>
          <p:cNvSpPr/>
          <p:nvPr/>
        </p:nvSpPr>
        <p:spPr>
          <a:xfrm>
            <a:off x="9738360" y="3063240"/>
            <a:ext cx="1645920" cy="896112"/>
          </a:xfrm>
          <a:prstGeom prst="roundRect">
            <a:avLst>
              <a:gd name="adj" fmla="val 10204"/>
            </a:avLst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26" name="Stat value 2"/>
          <p:cNvSpPr txBox="1"/>
          <p:nvPr/>
        </p:nvSpPr>
        <p:spPr>
          <a:xfrm>
            <a:off x="9738360" y="309067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4"/>
                </a:solidFill>
              </a:rPr>
              <a:t>4</a:t>
            </a:r>
            <a:endParaRPr lang="en-US" sz="3400" dirty="0"/>
          </a:p>
        </p:txBody>
      </p:sp>
      <p:sp>
        <p:nvSpPr>
          <p:cNvPr id="27" name="Stat label 2"/>
          <p:cNvSpPr txBox="1"/>
          <p:nvPr/>
        </p:nvSpPr>
        <p:spPr>
          <a:xfrm>
            <a:off x="9738360" y="3657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OCCUPIED</a:t>
            </a:r>
            <a:endParaRPr lang="en-US" sz="1100" dirty="0"/>
          </a:p>
        </p:txBody>
      </p:sp>
      <p:sp>
        <p:nvSpPr>
          <p:cNvPr id="28" name="Stat tile 3"/>
          <p:cNvSpPr/>
          <p:nvPr/>
        </p:nvSpPr>
        <p:spPr>
          <a:xfrm>
            <a:off x="9738360" y="4069080"/>
            <a:ext cx="1645920" cy="896112"/>
          </a:xfrm>
          <a:prstGeom prst="roundRect">
            <a:avLst>
              <a:gd name="adj" fmla="val 10204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29" name="Stat value 3"/>
          <p:cNvSpPr txBox="1"/>
          <p:nvPr/>
        </p:nvSpPr>
        <p:spPr>
          <a:xfrm>
            <a:off x="9738360" y="4096512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2"/>
                </a:solidFill>
              </a:rPr>
              <a:t>4</a:t>
            </a:r>
            <a:endParaRPr lang="en-US" sz="3400" dirty="0"/>
          </a:p>
        </p:txBody>
      </p:sp>
      <p:sp>
        <p:nvSpPr>
          <p:cNvPr id="30" name="Stat label 3"/>
          <p:cNvSpPr txBox="1"/>
          <p:nvPr/>
        </p:nvSpPr>
        <p:spPr>
          <a:xfrm>
            <a:off x="9738360" y="46634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AVAILABLE</a:t>
            </a:r>
            <a:endParaRPr lang="en-US" sz="1100" dirty="0"/>
          </a:p>
        </p:txBody>
      </p:sp>
      <p:sp>
        <p:nvSpPr>
          <p:cNvPr id="31" name="Example note"/>
          <p:cNvSpPr txBox="1"/>
          <p:nvPr/>
        </p:nvSpPr>
        <p:spPr>
          <a:xfrm>
            <a:off x="9738360" y="51206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Ground floor 2/4 and first floor 2/4 free, shown on the display and by green / red slot lights.</a:t>
            </a:r>
            <a:endParaRPr lang="en-US" sz="11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F7EAE672-C3C2-F2E7-9ADC-F177CF986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940" y="2034105"/>
            <a:ext cx="3154680" cy="3780044"/>
          </a:xfrm>
          <a:prstGeom prst="rect">
            <a:avLst/>
          </a:prstGeom>
        </p:spPr>
      </p:pic>
      <p:sp>
        <p:nvSpPr>
          <p:cNvPr id="34" name="Footer mask - KSRM removed"/>
          <p:cNvSpPr/>
          <p:nvPr/>
        </p:nvSpPr>
        <p:spPr>
          <a:xfrm>
            <a:off x="1645920" y="6419088"/>
            <a:ext cx="1993392" cy="283464"/>
          </a:xfrm>
          <a:prstGeom prst="rect">
            <a:avLst/>
          </a:prstGeom>
          <a:solidFill>
            <a:srgbClr val="EB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NOVA watermark"/>
          <p:cNvSpPr txBox="1"/>
          <p:nvPr userDrawn="1"/>
        </p:nvSpPr>
        <p:spPr>
          <a:xfrm rot="-1200000">
            <a:off x="1524000" y="1943100"/>
            <a:ext cx="9144000" cy="2971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endParaRPr lang="en-US" sz="17000" b="1" spc="0" dirty="0">
              <a:solidFill>
                <a:schemeClr val="bg1">
                  <a:lumMod val="85000"/>
                  <a:alpha val="8000"/>
                </a:schemeClr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 badge"/>
          <p:cNvSpPr/>
          <p:nvPr/>
        </p:nvSpPr>
        <p:spPr>
          <a:xfrm>
            <a:off x="475488" y="237744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Slide number text"/>
          <p:cNvSpPr txBox="1"/>
          <p:nvPr/>
        </p:nvSpPr>
        <p:spPr>
          <a:xfrm>
            <a:off x="475488" y="2377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04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1097280" y="2011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Key Features</a:t>
            </a:r>
            <a:endParaRPr lang="en-US" sz="3000" dirty="0"/>
          </a:p>
        </p:txBody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1097280" y="7498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Intelligent features of ParkEasy, from live detection to analytics</a:t>
            </a:r>
            <a:endParaRPr lang="en-US" sz="1400" dirty="0"/>
          </a:p>
        </p:txBody>
      </p:sp>
      <p:sp>
        <p:nvSpPr>
          <p:cNvPr id="6" name="Feature card 1"/>
          <p:cNvSpPr/>
          <p:nvPr/>
        </p:nvSpPr>
        <p:spPr>
          <a:xfrm>
            <a:off x="596536" y="1280160"/>
            <a:ext cx="5064034" cy="859536"/>
          </a:xfrm>
          <a:prstGeom prst="roundRect">
            <a:avLst>
              <a:gd name="adj" fmla="val 14894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Badge 1"/>
          <p:cNvSpPr/>
          <p:nvPr/>
        </p:nvSpPr>
        <p:spPr>
          <a:xfrm>
            <a:off x="797704" y="1453896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Feature title 1"/>
          <p:cNvSpPr txBox="1"/>
          <p:nvPr/>
        </p:nvSpPr>
        <p:spPr>
          <a:xfrm>
            <a:off x="1462536" y="1332456"/>
            <a:ext cx="39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Real-Time Slot Detection</a:t>
            </a:r>
            <a:endParaRPr lang="en-US" sz="1500" dirty="0"/>
          </a:p>
        </p:txBody>
      </p:sp>
      <p:sp>
        <p:nvSpPr>
          <p:cNvPr id="9" name="Feature text 1"/>
          <p:cNvSpPr txBox="1"/>
          <p:nvPr/>
        </p:nvSpPr>
        <p:spPr>
          <a:xfrm>
            <a:off x="1462536" y="1640160"/>
            <a:ext cx="40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Automatically identifies vacant and occupied parking spaces.</a:t>
            </a:r>
            <a:endParaRPr lang="en-US" sz="1200" dirty="0"/>
          </a:p>
        </p:txBody>
      </p:sp>
      <p:sp>
        <p:nvSpPr>
          <p:cNvPr id="10" name="Feature card 2"/>
          <p:cNvSpPr/>
          <p:nvPr/>
        </p:nvSpPr>
        <p:spPr>
          <a:xfrm>
            <a:off x="6640286" y="1280160"/>
            <a:ext cx="5064034" cy="859536"/>
          </a:xfrm>
          <a:prstGeom prst="roundRect">
            <a:avLst>
              <a:gd name="adj" fmla="val 14894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1" name="Badge 2"/>
          <p:cNvSpPr/>
          <p:nvPr/>
        </p:nvSpPr>
        <p:spPr>
          <a:xfrm>
            <a:off x="6841454" y="1453896"/>
            <a:ext cx="493776" cy="493776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Feature title 2"/>
          <p:cNvSpPr txBox="1"/>
          <p:nvPr/>
        </p:nvSpPr>
        <p:spPr>
          <a:xfrm>
            <a:off x="7506286" y="1332456"/>
            <a:ext cx="39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/>
              <a:t>Sensor-Based Monitoring</a:t>
            </a:r>
            <a:endParaRPr lang="en-US" sz="1500" dirty="0"/>
          </a:p>
        </p:txBody>
      </p:sp>
      <p:sp>
        <p:nvSpPr>
          <p:cNvPr id="13" name="Feature text 2"/>
          <p:cNvSpPr txBox="1"/>
          <p:nvPr/>
        </p:nvSpPr>
        <p:spPr>
          <a:xfrm>
            <a:off x="7506286" y="1640160"/>
            <a:ext cx="40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>
                <a:solidFill>
                  <a:schemeClr val="tx1"/>
                </a:solidFill>
              </a:rPr>
              <a:t>Affordable sensors detect vehicle presence in each slot.</a:t>
            </a:r>
            <a:endParaRPr lang="en-US" sz="1200" dirty="0"/>
          </a:p>
        </p:txBody>
      </p:sp>
      <p:sp>
        <p:nvSpPr>
          <p:cNvPr id="14" name="Feature card 3"/>
          <p:cNvSpPr/>
          <p:nvPr/>
        </p:nvSpPr>
        <p:spPr>
          <a:xfrm>
            <a:off x="596536" y="2258568"/>
            <a:ext cx="5064034" cy="859536"/>
          </a:xfrm>
          <a:prstGeom prst="roundRect">
            <a:avLst>
              <a:gd name="adj" fmla="val 14894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Badge 3"/>
          <p:cNvSpPr/>
          <p:nvPr/>
        </p:nvSpPr>
        <p:spPr>
          <a:xfrm>
            <a:off x="797704" y="2432304"/>
            <a:ext cx="493776" cy="493776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Feature title 3"/>
          <p:cNvSpPr txBox="1"/>
          <p:nvPr/>
        </p:nvSpPr>
        <p:spPr>
          <a:xfrm>
            <a:off x="1462536" y="2310864"/>
            <a:ext cx="39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Live Parking Dashboard</a:t>
            </a:r>
            <a:endParaRPr lang="en-US" sz="1500" dirty="0"/>
          </a:p>
        </p:txBody>
      </p:sp>
      <p:sp>
        <p:nvSpPr>
          <p:cNvPr id="17" name="Feature text 3"/>
          <p:cNvSpPr txBox="1"/>
          <p:nvPr/>
        </p:nvSpPr>
        <p:spPr>
          <a:xfrm>
            <a:off x="1462536" y="2618568"/>
            <a:ext cx="40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Shows total, occupied and available spaces in real time.</a:t>
            </a:r>
            <a:endParaRPr lang="en-US" sz="1200" dirty="0"/>
          </a:p>
        </p:txBody>
      </p:sp>
      <p:sp>
        <p:nvSpPr>
          <p:cNvPr id="18" name="Feature card 4"/>
          <p:cNvSpPr/>
          <p:nvPr/>
        </p:nvSpPr>
        <p:spPr>
          <a:xfrm>
            <a:off x="6640286" y="2258568"/>
            <a:ext cx="5064034" cy="859536"/>
          </a:xfrm>
          <a:prstGeom prst="roundRect">
            <a:avLst>
              <a:gd name="adj" fmla="val 14894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Badge 4"/>
          <p:cNvSpPr/>
          <p:nvPr/>
        </p:nvSpPr>
        <p:spPr>
          <a:xfrm>
            <a:off x="6841454" y="2432304"/>
            <a:ext cx="493776" cy="493776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Feature title 4"/>
          <p:cNvSpPr txBox="1"/>
          <p:nvPr/>
        </p:nvSpPr>
        <p:spPr>
          <a:xfrm>
            <a:off x="7506286" y="2310864"/>
            <a:ext cx="39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Smart Parking Guidance</a:t>
            </a:r>
            <a:endParaRPr lang="en-US" sz="1500" dirty="0"/>
          </a:p>
        </p:txBody>
      </p:sp>
      <p:sp>
        <p:nvSpPr>
          <p:cNvPr id="21" name="Feature text 4"/>
          <p:cNvSpPr txBox="1"/>
          <p:nvPr/>
        </p:nvSpPr>
        <p:spPr>
          <a:xfrm>
            <a:off x="7506286" y="2618568"/>
            <a:ext cx="40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Slot numbers and visual indicators lead drivers to free slots.</a:t>
            </a:r>
            <a:endParaRPr lang="en-US" sz="1200" dirty="0"/>
          </a:p>
        </p:txBody>
      </p:sp>
      <p:sp>
        <p:nvSpPr>
          <p:cNvPr id="22" name="Feature card 5"/>
          <p:cNvSpPr/>
          <p:nvPr/>
        </p:nvSpPr>
        <p:spPr>
          <a:xfrm>
            <a:off x="596536" y="3236976"/>
            <a:ext cx="5064034" cy="859536"/>
          </a:xfrm>
          <a:prstGeom prst="roundRect">
            <a:avLst>
              <a:gd name="adj" fmla="val 14894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Badge 5"/>
          <p:cNvSpPr/>
          <p:nvPr/>
        </p:nvSpPr>
        <p:spPr>
          <a:xfrm>
            <a:off x="797704" y="3410712"/>
            <a:ext cx="493776" cy="493776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4" name="Feature title 5"/>
          <p:cNvSpPr txBox="1"/>
          <p:nvPr/>
        </p:nvSpPr>
        <p:spPr>
          <a:xfrm>
            <a:off x="1462536" y="3289272"/>
            <a:ext cx="39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Multi-Floor Management</a:t>
            </a:r>
            <a:endParaRPr lang="en-US" sz="1500" dirty="0"/>
          </a:p>
        </p:txBody>
      </p:sp>
      <p:sp>
        <p:nvSpPr>
          <p:cNvPr id="25" name="Feature text 5"/>
          <p:cNvSpPr txBox="1"/>
          <p:nvPr/>
        </p:nvSpPr>
        <p:spPr>
          <a:xfrm>
            <a:off x="1462536" y="3596976"/>
            <a:ext cx="40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Floor-by-floor availability for multi-level buildings.</a:t>
            </a:r>
            <a:endParaRPr lang="en-US" sz="1200" dirty="0"/>
          </a:p>
        </p:txBody>
      </p:sp>
      <p:sp>
        <p:nvSpPr>
          <p:cNvPr id="26" name="Feature card 6"/>
          <p:cNvSpPr/>
          <p:nvPr/>
        </p:nvSpPr>
        <p:spPr>
          <a:xfrm>
            <a:off x="6640286" y="3236976"/>
            <a:ext cx="5064034" cy="859536"/>
          </a:xfrm>
          <a:prstGeom prst="roundRect">
            <a:avLst>
              <a:gd name="adj" fmla="val 14894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7" name="Badge 6"/>
          <p:cNvSpPr/>
          <p:nvPr/>
        </p:nvSpPr>
        <p:spPr>
          <a:xfrm>
            <a:off x="6841454" y="3410712"/>
            <a:ext cx="493777" cy="49377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8" name="Feature title 6"/>
          <p:cNvSpPr txBox="1"/>
          <p:nvPr/>
        </p:nvSpPr>
        <p:spPr>
          <a:xfrm>
            <a:off x="7506286" y="3289272"/>
            <a:ext cx="39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Automated Alerts</a:t>
            </a:r>
            <a:endParaRPr lang="en-US" sz="1500" dirty="0"/>
          </a:p>
        </p:txBody>
      </p:sp>
      <p:sp>
        <p:nvSpPr>
          <p:cNvPr id="29" name="Feature text 6"/>
          <p:cNvSpPr txBox="1"/>
          <p:nvPr/>
        </p:nvSpPr>
        <p:spPr>
          <a:xfrm>
            <a:off x="7506286" y="3596976"/>
            <a:ext cx="40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Signals when spaces open up or the parking area is full.</a:t>
            </a:r>
            <a:endParaRPr lang="en-US" sz="1200" dirty="0"/>
          </a:p>
        </p:txBody>
      </p:sp>
      <p:sp>
        <p:nvSpPr>
          <p:cNvPr id="30" name="Feature card 7"/>
          <p:cNvSpPr/>
          <p:nvPr/>
        </p:nvSpPr>
        <p:spPr>
          <a:xfrm>
            <a:off x="596536" y="4215384"/>
            <a:ext cx="5064034" cy="859536"/>
          </a:xfrm>
          <a:prstGeom prst="roundRect">
            <a:avLst>
              <a:gd name="adj" fmla="val 14894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Badge 7"/>
          <p:cNvSpPr/>
          <p:nvPr/>
        </p:nvSpPr>
        <p:spPr>
          <a:xfrm>
            <a:off x="797704" y="4389120"/>
            <a:ext cx="493776" cy="493776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32" name="Feature title 7"/>
          <p:cNvSpPr txBox="1"/>
          <p:nvPr/>
        </p:nvSpPr>
        <p:spPr>
          <a:xfrm>
            <a:off x="1462536" y="4267680"/>
            <a:ext cx="39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500" b="1" dirty="0"/>
              <a:t>Digital payments</a:t>
            </a:r>
            <a:endParaRPr lang="en-US" sz="1500" dirty="0"/>
          </a:p>
        </p:txBody>
      </p:sp>
      <p:sp>
        <p:nvSpPr>
          <p:cNvPr id="33" name="Feature text 7"/>
          <p:cNvSpPr txBox="1"/>
          <p:nvPr/>
        </p:nvSpPr>
        <p:spPr>
          <a:xfrm>
            <a:off x="1462536" y="4575384"/>
            <a:ext cx="40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300" dirty="0"/>
              <a:t>Supports options such as UPI, cards, cash, and digital wallets</a:t>
            </a:r>
            <a:r>
              <a:rPr lang="en-US" sz="1300" dirty="0">
                <a:solidFill>
                  <a:schemeClr val="tx1"/>
                </a:solidFill>
              </a:rPr>
              <a:t>.</a:t>
            </a:r>
            <a:endParaRPr lang="en-US" sz="1200" dirty="0"/>
          </a:p>
        </p:txBody>
      </p:sp>
      <p:sp>
        <p:nvSpPr>
          <p:cNvPr id="34" name="Feature card 8"/>
          <p:cNvSpPr/>
          <p:nvPr/>
        </p:nvSpPr>
        <p:spPr>
          <a:xfrm>
            <a:off x="6640286" y="4215384"/>
            <a:ext cx="5064034" cy="859536"/>
          </a:xfrm>
          <a:prstGeom prst="roundRect">
            <a:avLst>
              <a:gd name="adj" fmla="val 14894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5" name="Badge 8"/>
          <p:cNvSpPr/>
          <p:nvPr/>
        </p:nvSpPr>
        <p:spPr>
          <a:xfrm>
            <a:off x="6841454" y="4389120"/>
            <a:ext cx="537754" cy="493776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36" name="Feature title 8"/>
          <p:cNvSpPr txBox="1"/>
          <p:nvPr/>
        </p:nvSpPr>
        <p:spPr>
          <a:xfrm>
            <a:off x="7506286" y="4267680"/>
            <a:ext cx="39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500" b="1" dirty="0"/>
              <a:t>Online booking</a:t>
            </a:r>
            <a:endParaRPr lang="en-US" sz="1500" dirty="0"/>
          </a:p>
        </p:txBody>
      </p:sp>
      <p:sp>
        <p:nvSpPr>
          <p:cNvPr id="37" name="Feature text 8"/>
          <p:cNvSpPr txBox="1"/>
          <p:nvPr/>
        </p:nvSpPr>
        <p:spPr>
          <a:xfrm>
            <a:off x="7506286" y="4575384"/>
            <a:ext cx="40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300" dirty="0"/>
              <a:t>Users can reserve parking spaces in advance</a:t>
            </a:r>
            <a:endParaRPr lang="en-US" sz="1200" dirty="0"/>
          </a:p>
        </p:txBody>
      </p:sp>
      <p:sp>
        <p:nvSpPr>
          <p:cNvPr id="38" name="Feature card 9"/>
          <p:cNvSpPr/>
          <p:nvPr/>
        </p:nvSpPr>
        <p:spPr>
          <a:xfrm>
            <a:off x="596536" y="5193792"/>
            <a:ext cx="5064034" cy="859536"/>
          </a:xfrm>
          <a:prstGeom prst="roundRect">
            <a:avLst>
              <a:gd name="adj" fmla="val 14894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Badge 9"/>
          <p:cNvSpPr/>
          <p:nvPr/>
        </p:nvSpPr>
        <p:spPr>
          <a:xfrm>
            <a:off x="797704" y="5367528"/>
            <a:ext cx="493776" cy="493776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9</a:t>
            </a:r>
            <a:endParaRPr lang="en-US" sz="1600" dirty="0"/>
          </a:p>
        </p:txBody>
      </p:sp>
      <p:sp>
        <p:nvSpPr>
          <p:cNvPr id="40" name="Feature title 9"/>
          <p:cNvSpPr txBox="1"/>
          <p:nvPr/>
        </p:nvSpPr>
        <p:spPr>
          <a:xfrm>
            <a:off x="1462536" y="5246088"/>
            <a:ext cx="39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chemeClr val="tx1"/>
                </a:solidFill>
              </a:rPr>
              <a:t>Automatic Barrier Control</a:t>
            </a:r>
            <a:endParaRPr lang="en-US" sz="1500" dirty="0"/>
          </a:p>
        </p:txBody>
      </p:sp>
      <p:sp>
        <p:nvSpPr>
          <p:cNvPr id="41" name="Feature text 9"/>
          <p:cNvSpPr txBox="1"/>
          <p:nvPr/>
        </p:nvSpPr>
        <p:spPr>
          <a:xfrm>
            <a:off x="1462536" y="5553792"/>
            <a:ext cx="40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chemeClr val="tx1"/>
                </a:solidFill>
              </a:rPr>
              <a:t>Servo-operated barrier for entry and exit demonstrations.</a:t>
            </a:r>
            <a:endParaRPr lang="en-US" sz="1200" dirty="0"/>
          </a:p>
        </p:txBody>
      </p:sp>
      <p:sp>
        <p:nvSpPr>
          <p:cNvPr id="42" name="Feature card 10"/>
          <p:cNvSpPr/>
          <p:nvPr/>
        </p:nvSpPr>
        <p:spPr>
          <a:xfrm>
            <a:off x="6640286" y="5193792"/>
            <a:ext cx="5064034" cy="859536"/>
          </a:xfrm>
          <a:prstGeom prst="roundRect">
            <a:avLst>
              <a:gd name="adj" fmla="val 14894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Badge 10"/>
          <p:cNvSpPr/>
          <p:nvPr/>
        </p:nvSpPr>
        <p:spPr>
          <a:xfrm>
            <a:off x="6841454" y="5367528"/>
            <a:ext cx="537753" cy="493776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10</a:t>
            </a:r>
            <a:endParaRPr lang="en-US" sz="1600" dirty="0"/>
          </a:p>
        </p:txBody>
      </p:sp>
      <p:sp>
        <p:nvSpPr>
          <p:cNvPr id="44" name="Feature title 10"/>
          <p:cNvSpPr txBox="1"/>
          <p:nvPr/>
        </p:nvSpPr>
        <p:spPr>
          <a:xfrm>
            <a:off x="7506286" y="5246088"/>
            <a:ext cx="3900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/>
              <a:t>Time and Fuel Saving</a:t>
            </a:r>
            <a:endParaRPr lang="en-US" sz="1500" dirty="0"/>
          </a:p>
        </p:txBody>
      </p:sp>
      <p:sp>
        <p:nvSpPr>
          <p:cNvPr id="45" name="Feature text 10"/>
          <p:cNvSpPr txBox="1"/>
          <p:nvPr/>
        </p:nvSpPr>
        <p:spPr>
          <a:xfrm>
            <a:off x="7506286" y="5553792"/>
            <a:ext cx="40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/>
              <a:t>Minimizes unnecessary driving inside parking areas</a:t>
            </a:r>
            <a:endParaRPr lang="en-US" sz="120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 dirty="0"/>
          </a:p>
        </p:txBody>
      </p:sp>
      <p:sp>
        <p:nvSpPr>
          <p:cNvPr id="51" name="Footer mask - KSRM removed"/>
          <p:cNvSpPr/>
          <p:nvPr/>
        </p:nvSpPr>
        <p:spPr>
          <a:xfrm>
            <a:off x="1645920" y="6419088"/>
            <a:ext cx="1993392" cy="283464"/>
          </a:xfrm>
          <a:prstGeom prst="rect">
            <a:avLst/>
          </a:prstGeom>
          <a:solidFill>
            <a:srgbClr val="EB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NOVA watermark"/>
          <p:cNvSpPr txBox="1"/>
          <p:nvPr userDrawn="1"/>
        </p:nvSpPr>
        <p:spPr>
          <a:xfrm rot="-1200000">
            <a:off x="1524000" y="1943100"/>
            <a:ext cx="9144000" cy="2971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endParaRPr lang="en-US" sz="17000" b="1" spc="0" dirty="0">
              <a:solidFill>
                <a:schemeClr val="bg1">
                  <a:lumMod val="85000"/>
                  <a:alpha val="8000"/>
                </a:schemeClr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 badge"/>
          <p:cNvSpPr/>
          <p:nvPr/>
        </p:nvSpPr>
        <p:spPr>
          <a:xfrm>
            <a:off x="475488" y="237744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Slide number text"/>
          <p:cNvSpPr txBox="1"/>
          <p:nvPr/>
        </p:nvSpPr>
        <p:spPr>
          <a:xfrm>
            <a:off x="475488" y="2377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05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1097280" y="2011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Implementation Approach</a:t>
            </a:r>
            <a:endParaRPr lang="en-US" sz="3000" dirty="0"/>
          </a:p>
        </p:txBody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1097280" y="7498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Expected outcome: a working prototype that detects parking availability and shows it on a live dashboard</a:t>
            </a:r>
            <a:endParaRPr lang="en-US" sz="1400" dirty="0"/>
          </a:p>
        </p:txBody>
      </p:sp>
      <p:sp>
        <p:nvSpPr>
          <p:cNvPr id="6" name="Badge 1"/>
          <p:cNvSpPr/>
          <p:nvPr/>
        </p:nvSpPr>
        <p:spPr>
          <a:xfrm>
            <a:off x="731520" y="129844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Step row 1"/>
          <p:cNvSpPr/>
          <p:nvPr/>
        </p:nvSpPr>
        <p:spPr>
          <a:xfrm>
            <a:off x="1371600" y="1234440"/>
            <a:ext cx="7498080" cy="530352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tep title 1"/>
          <p:cNvSpPr txBox="1"/>
          <p:nvPr/>
        </p:nvSpPr>
        <p:spPr>
          <a:xfrm>
            <a:off x="1508760" y="123444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Design the Parking Model</a:t>
            </a:r>
            <a:endParaRPr lang="en-US" sz="1400" dirty="0"/>
          </a:p>
        </p:txBody>
      </p:sp>
      <p:sp>
        <p:nvSpPr>
          <p:cNvPr id="9" name="Step text 1"/>
          <p:cNvSpPr txBox="1"/>
          <p:nvPr/>
        </p:nvSpPr>
        <p:spPr>
          <a:xfrm>
            <a:off x="3749040" y="123444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Build a miniature parking area with numbered slots; a two-floor model shows multi-level management.</a:t>
            </a:r>
            <a:endParaRPr lang="en-US" sz="1200" dirty="0"/>
          </a:p>
        </p:txBody>
      </p:sp>
      <p:sp>
        <p:nvSpPr>
          <p:cNvPr id="10" name="Badge 2"/>
          <p:cNvSpPr/>
          <p:nvPr/>
        </p:nvSpPr>
        <p:spPr>
          <a:xfrm>
            <a:off x="731520" y="1929384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Step row 2"/>
          <p:cNvSpPr/>
          <p:nvPr/>
        </p:nvSpPr>
        <p:spPr>
          <a:xfrm>
            <a:off x="1371600" y="1865376"/>
            <a:ext cx="7498080" cy="530352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tep title 2"/>
          <p:cNvSpPr txBox="1"/>
          <p:nvPr/>
        </p:nvSpPr>
        <p:spPr>
          <a:xfrm>
            <a:off x="1508760" y="1865376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Install Sensors</a:t>
            </a:r>
            <a:endParaRPr lang="en-US" sz="1400" dirty="0"/>
          </a:p>
        </p:txBody>
      </p:sp>
      <p:sp>
        <p:nvSpPr>
          <p:cNvPr id="13" name="Step text 2"/>
          <p:cNvSpPr txBox="1"/>
          <p:nvPr/>
        </p:nvSpPr>
        <p:spPr>
          <a:xfrm>
            <a:off x="3749040" y="1865376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Place an IR or suitable vehicle-detection sensor at each parking slot.</a:t>
            </a:r>
            <a:endParaRPr lang="en-US" sz="1200" dirty="0"/>
          </a:p>
        </p:txBody>
      </p:sp>
      <p:sp>
        <p:nvSpPr>
          <p:cNvPr id="14" name="Badge 3"/>
          <p:cNvSpPr/>
          <p:nvPr/>
        </p:nvSpPr>
        <p:spPr>
          <a:xfrm>
            <a:off x="731520" y="2560320"/>
            <a:ext cx="402336" cy="402336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Step row 3"/>
          <p:cNvSpPr/>
          <p:nvPr/>
        </p:nvSpPr>
        <p:spPr>
          <a:xfrm>
            <a:off x="1371600" y="2496312"/>
            <a:ext cx="7498080" cy="530352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tep title 3"/>
          <p:cNvSpPr txBox="1"/>
          <p:nvPr/>
        </p:nvSpPr>
        <p:spPr>
          <a:xfrm>
            <a:off x="1508760" y="249631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Connect the Controller</a:t>
            </a:r>
            <a:endParaRPr lang="en-US" sz="1400" dirty="0"/>
          </a:p>
        </p:txBody>
      </p:sp>
      <p:sp>
        <p:nvSpPr>
          <p:cNvPr id="17" name="Step text 3"/>
          <p:cNvSpPr txBox="1"/>
          <p:nvPr/>
        </p:nvSpPr>
        <p:spPr>
          <a:xfrm>
            <a:off x="3749040" y="2496312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Use an ESP32 or NodeMCU ESP8266 to collect and process sensor readings.</a:t>
            </a:r>
            <a:endParaRPr lang="en-US" sz="1200" dirty="0"/>
          </a:p>
        </p:txBody>
      </p:sp>
      <p:sp>
        <p:nvSpPr>
          <p:cNvPr id="18" name="Badge 4"/>
          <p:cNvSpPr/>
          <p:nvPr/>
        </p:nvSpPr>
        <p:spPr>
          <a:xfrm>
            <a:off x="731520" y="3191256"/>
            <a:ext cx="402336" cy="402336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Step row 4"/>
          <p:cNvSpPr/>
          <p:nvPr/>
        </p:nvSpPr>
        <p:spPr>
          <a:xfrm>
            <a:off x="1371600" y="3127248"/>
            <a:ext cx="7498080" cy="530352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tep title 4"/>
          <p:cNvSpPr txBox="1"/>
          <p:nvPr/>
        </p:nvSpPr>
        <p:spPr>
          <a:xfrm>
            <a:off x="1508760" y="312724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Develop Monitoring</a:t>
            </a:r>
            <a:endParaRPr lang="en-US" sz="1400" dirty="0"/>
          </a:p>
        </p:txBody>
      </p:sp>
      <p:sp>
        <p:nvSpPr>
          <p:cNvPr id="21" name="Step text 4"/>
          <p:cNvSpPr txBox="1"/>
          <p:nvPr/>
        </p:nvSpPr>
        <p:spPr>
          <a:xfrm>
            <a:off x="3749040" y="3127248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Program the controller to decide whether each slot is available or occupied.</a:t>
            </a:r>
            <a:endParaRPr lang="en-US" sz="1200" dirty="0"/>
          </a:p>
        </p:txBody>
      </p:sp>
      <p:sp>
        <p:nvSpPr>
          <p:cNvPr id="22" name="Badge 5"/>
          <p:cNvSpPr/>
          <p:nvPr/>
        </p:nvSpPr>
        <p:spPr>
          <a:xfrm>
            <a:off x="731520" y="3822192"/>
            <a:ext cx="402336" cy="402336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3" name="Step row 5"/>
          <p:cNvSpPr/>
          <p:nvPr/>
        </p:nvSpPr>
        <p:spPr>
          <a:xfrm>
            <a:off x="1371600" y="3758184"/>
            <a:ext cx="7498080" cy="530352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tep title 5"/>
          <p:cNvSpPr txBox="1"/>
          <p:nvPr/>
        </p:nvSpPr>
        <p:spPr>
          <a:xfrm>
            <a:off x="1508760" y="375818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Establish Communication</a:t>
            </a:r>
            <a:endParaRPr lang="en-US" sz="1400" dirty="0"/>
          </a:p>
        </p:txBody>
      </p:sp>
      <p:sp>
        <p:nvSpPr>
          <p:cNvPr id="25" name="Step text 5"/>
          <p:cNvSpPr txBox="1"/>
          <p:nvPr/>
        </p:nvSpPr>
        <p:spPr>
          <a:xfrm>
            <a:off x="3749040" y="3758184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Use Wi-Fi to send parking information to a local web dashboard or other supported display.</a:t>
            </a:r>
            <a:endParaRPr lang="en-US" sz="1200" dirty="0"/>
          </a:p>
        </p:txBody>
      </p:sp>
      <p:sp>
        <p:nvSpPr>
          <p:cNvPr id="26" name="Badge 6"/>
          <p:cNvSpPr/>
          <p:nvPr/>
        </p:nvSpPr>
        <p:spPr>
          <a:xfrm>
            <a:off x="731520" y="445312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27" name="Step row 6"/>
          <p:cNvSpPr/>
          <p:nvPr/>
        </p:nvSpPr>
        <p:spPr>
          <a:xfrm>
            <a:off x="1371600" y="4389120"/>
            <a:ext cx="7498080" cy="530352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tep title 6"/>
          <p:cNvSpPr txBox="1"/>
          <p:nvPr/>
        </p:nvSpPr>
        <p:spPr>
          <a:xfrm>
            <a:off x="1508760" y="438912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Create the Dashboard</a:t>
            </a:r>
            <a:endParaRPr lang="en-US" sz="1400" dirty="0"/>
          </a:p>
        </p:txBody>
      </p:sp>
      <p:sp>
        <p:nvSpPr>
          <p:cNvPr id="29" name="Step text 6"/>
          <p:cNvSpPr txBox="1"/>
          <p:nvPr/>
        </p:nvSpPr>
        <p:spPr>
          <a:xfrm>
            <a:off x="3749040" y="438912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Show slot status by colour: Green = available, Red = occupied, Yellow = reserved or restricted (if implemented).</a:t>
            </a:r>
            <a:endParaRPr lang="en-US" sz="1200" dirty="0"/>
          </a:p>
        </p:txBody>
      </p:sp>
      <p:sp>
        <p:nvSpPr>
          <p:cNvPr id="30" name="Badge 7"/>
          <p:cNvSpPr/>
          <p:nvPr/>
        </p:nvSpPr>
        <p:spPr>
          <a:xfrm>
            <a:off x="731520" y="5084064"/>
            <a:ext cx="402336" cy="402336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31" name="Step row 7"/>
          <p:cNvSpPr/>
          <p:nvPr/>
        </p:nvSpPr>
        <p:spPr>
          <a:xfrm>
            <a:off x="1371600" y="5020056"/>
            <a:ext cx="7498080" cy="530352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tep title 7"/>
          <p:cNvSpPr txBox="1"/>
          <p:nvPr/>
        </p:nvSpPr>
        <p:spPr>
          <a:xfrm>
            <a:off x="1508760" y="5020056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Integrate Smart Features</a:t>
            </a:r>
            <a:endParaRPr lang="en-US" sz="1400" dirty="0"/>
          </a:p>
        </p:txBody>
      </p:sp>
      <p:sp>
        <p:nvSpPr>
          <p:cNvPr id="33" name="Step text 7"/>
          <p:cNvSpPr txBox="1"/>
          <p:nvPr/>
        </p:nvSpPr>
        <p:spPr>
          <a:xfrm>
            <a:off x="3749040" y="5020056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Add a servo-based entry barrier and parking alerts where feasible.</a:t>
            </a:r>
            <a:endParaRPr lang="en-US" sz="1200" dirty="0"/>
          </a:p>
        </p:txBody>
      </p:sp>
      <p:sp>
        <p:nvSpPr>
          <p:cNvPr id="34" name="Badge 8"/>
          <p:cNvSpPr/>
          <p:nvPr/>
        </p:nvSpPr>
        <p:spPr>
          <a:xfrm>
            <a:off x="731520" y="5715000"/>
            <a:ext cx="402336" cy="402336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8</a:t>
            </a:r>
            <a:endParaRPr lang="en-US" sz="1500" dirty="0"/>
          </a:p>
        </p:txBody>
      </p:sp>
      <p:sp>
        <p:nvSpPr>
          <p:cNvPr id="35" name="Step row 8"/>
          <p:cNvSpPr/>
          <p:nvPr/>
        </p:nvSpPr>
        <p:spPr>
          <a:xfrm>
            <a:off x="1371600" y="5650992"/>
            <a:ext cx="7498080" cy="530352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tep title 8"/>
          <p:cNvSpPr txBox="1"/>
          <p:nvPr/>
        </p:nvSpPr>
        <p:spPr>
          <a:xfrm>
            <a:off x="1508760" y="565099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Test and Demonstrate</a:t>
            </a:r>
            <a:endParaRPr lang="en-US" sz="1400" dirty="0"/>
          </a:p>
        </p:txBody>
      </p:sp>
      <p:sp>
        <p:nvSpPr>
          <p:cNvPr id="37" name="Step text 8"/>
          <p:cNvSpPr txBox="1"/>
          <p:nvPr/>
        </p:nvSpPr>
        <p:spPr>
          <a:xfrm>
            <a:off x="3749040" y="5650992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Place and remove toy vehicles in different slots to verify that the displayed status updates correctly.</a:t>
            </a:r>
            <a:endParaRPr lang="en-US" sz="1200" dirty="0"/>
          </a:p>
        </p:txBody>
      </p:sp>
      <p:sp>
        <p:nvSpPr>
          <p:cNvPr id="38" name="Prototype card"/>
          <p:cNvSpPr/>
          <p:nvPr/>
        </p:nvSpPr>
        <p:spPr>
          <a:xfrm>
            <a:off x="9144000" y="1234440"/>
            <a:ext cx="2468880" cy="493776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9" name="Prototype photo frame"/>
          <p:cNvSpPr/>
          <p:nvPr/>
        </p:nvSpPr>
        <p:spPr>
          <a:xfrm>
            <a:off x="9253728" y="1344168"/>
            <a:ext cx="2249424" cy="2693416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1" name="Prototype caption"/>
          <p:cNvSpPr txBox="1"/>
          <p:nvPr/>
        </p:nvSpPr>
        <p:spPr>
          <a:xfrm>
            <a:off x="9326880" y="4147312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2000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Our two-floor model  </a:t>
            </a:r>
          </a:p>
          <a:p>
            <a:endParaRPr lang="en-US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5E9225AC-83BB-ECC5-DAA5-EB870E1BE4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0" y="1344168"/>
            <a:ext cx="2267712" cy="2693751"/>
          </a:xfrm>
          <a:prstGeom prst="rect">
            <a:avLst/>
          </a:prstGeom>
        </p:spPr>
      </p:pic>
      <p:sp>
        <p:nvSpPr>
          <p:cNvPr id="45" name="Footer mask - KSRM removed"/>
          <p:cNvSpPr/>
          <p:nvPr/>
        </p:nvSpPr>
        <p:spPr>
          <a:xfrm>
            <a:off x="1645920" y="6419088"/>
            <a:ext cx="1993392" cy="283464"/>
          </a:xfrm>
          <a:prstGeom prst="rect">
            <a:avLst/>
          </a:prstGeom>
          <a:solidFill>
            <a:srgbClr val="EB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NOVA watermark"/>
          <p:cNvSpPr txBox="1"/>
          <p:nvPr userDrawn="1"/>
        </p:nvSpPr>
        <p:spPr>
          <a:xfrm rot="-1200000">
            <a:off x="1524000" y="1943100"/>
            <a:ext cx="9144000" cy="2971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endParaRPr lang="en-US" sz="17000" b="1" spc="0" dirty="0">
              <a:solidFill>
                <a:schemeClr val="bg1">
                  <a:lumMod val="85000"/>
                  <a:alpha val="8000"/>
                </a:schemeClr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 badge"/>
          <p:cNvSpPr/>
          <p:nvPr/>
        </p:nvSpPr>
        <p:spPr>
          <a:xfrm>
            <a:off x="475488" y="237744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Slide number text"/>
          <p:cNvSpPr txBox="1"/>
          <p:nvPr/>
        </p:nvSpPr>
        <p:spPr>
          <a:xfrm>
            <a:off x="475488" y="2377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06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1097280" y="2011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Budget &amp; Components</a:t>
            </a:r>
            <a:endParaRPr lang="en-US" sz="3000" dirty="0"/>
          </a:p>
        </p:txBody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1097280" y="7498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Estimated prototype cost: ₹1,650–₹3,700</a:t>
            </a:r>
            <a:endParaRPr lang="en-US" sz="1400" dirty="0"/>
          </a:p>
        </p:txBody>
      </p:sp>
      <p:sp>
        <p:nvSpPr>
          <p:cNvPr id="6" name="Budget table card"/>
          <p:cNvSpPr/>
          <p:nvPr/>
        </p:nvSpPr>
        <p:spPr>
          <a:xfrm>
            <a:off x="594360" y="1234440"/>
            <a:ext cx="6766560" cy="5029200"/>
          </a:xfrm>
          <a:prstGeom prst="roundRect">
            <a:avLst>
              <a:gd name="adj" fmla="val 3273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graphicFrame>
        <p:nvGraphicFramePr>
          <p:cNvPr id="7" name="Budge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576943"/>
              </p:ext>
            </p:extLst>
          </p:nvPr>
        </p:nvGraphicFramePr>
        <p:xfrm>
          <a:off x="822960" y="1463039"/>
          <a:ext cx="6309360" cy="450233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2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Component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Estimated Cost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2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ESP32 or NodeMCU ESP8266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₹300–₹500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2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IR Sensors (4–8 units)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₹200–₹500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2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Servo Motor for Barrier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₹100–₹200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2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Breadboard and Jumper Wires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₹150–₹300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2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LEDs and Resistors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₹50–₹100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2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Power Supply and USB Cable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₹200–₹400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02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Parking Model Materials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₹400–₹800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02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Miscellaneous Components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₹250–₹900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02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Estimated Total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2">
                        <a:alpha val="18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₹1,650–₹3,700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2">
                        <a:alpha val="18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Budget note"/>
          <p:cNvSpPr txBox="1"/>
          <p:nvPr/>
        </p:nvSpPr>
        <p:spPr>
          <a:xfrm>
            <a:off x="868680" y="544068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9" name="Requirements card"/>
          <p:cNvSpPr/>
          <p:nvPr/>
        </p:nvSpPr>
        <p:spPr>
          <a:xfrm>
            <a:off x="7635240" y="1234440"/>
            <a:ext cx="3977640" cy="5029200"/>
          </a:xfrm>
          <a:prstGeom prst="roundRect">
            <a:avLst>
              <a:gd name="adj" fmla="val 4138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Hardware heading"/>
          <p:cNvSpPr txBox="1"/>
          <p:nvPr/>
        </p:nvSpPr>
        <p:spPr>
          <a:xfrm>
            <a:off x="7909560" y="1698823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Essential hardware</a:t>
            </a:r>
            <a:endParaRPr lang="en-US" sz="1800" dirty="0"/>
          </a:p>
        </p:txBody>
      </p:sp>
      <p:sp>
        <p:nvSpPr>
          <p:cNvPr id="11" name="Hardware list"/>
          <p:cNvSpPr txBox="1"/>
          <p:nvPr/>
        </p:nvSpPr>
        <p:spPr>
          <a:xfrm>
            <a:off x="7909560" y="2073728"/>
            <a:ext cx="3520440" cy="1501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ESP32 or NodeMCU ESP8266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IR or similar vehicle sensors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Breadboard, wires, LEDs, resistors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Servo motor (optional barrier)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USB power; foam board model</a:t>
            </a:r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endParaRPr lang="en-US" sz="1400" dirty="0"/>
          </a:p>
        </p:txBody>
      </p:sp>
      <p:sp>
        <p:nvSpPr>
          <p:cNvPr id="12" name="Software heading"/>
          <p:cNvSpPr txBox="1"/>
          <p:nvPr/>
        </p:nvSpPr>
        <p:spPr>
          <a:xfrm>
            <a:off x="7886700" y="3785616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Software requirements</a:t>
            </a:r>
            <a:endParaRPr lang="en-US" sz="1800" dirty="0"/>
          </a:p>
        </p:txBody>
      </p:sp>
      <p:sp>
        <p:nvSpPr>
          <p:cNvPr id="13" name="Software list"/>
          <p:cNvSpPr txBox="1"/>
          <p:nvPr/>
        </p:nvSpPr>
        <p:spPr>
          <a:xfrm>
            <a:off x="7909560" y="4120243"/>
            <a:ext cx="3520440" cy="1845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Arduino IDE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Embedded C/C++ for the controller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HTML, CSS, JavaScript dashboard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Wi-Fi for live status updates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26" name="Footer mask - KSRM removed"/>
          <p:cNvSpPr/>
          <p:nvPr/>
        </p:nvSpPr>
        <p:spPr>
          <a:xfrm>
            <a:off x="1645920" y="6419088"/>
            <a:ext cx="1993392" cy="283464"/>
          </a:xfrm>
          <a:prstGeom prst="rect">
            <a:avLst/>
          </a:prstGeom>
          <a:solidFill>
            <a:srgbClr val="EB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NOVA watermark"/>
          <p:cNvSpPr txBox="1"/>
          <p:nvPr userDrawn="1"/>
        </p:nvSpPr>
        <p:spPr>
          <a:xfrm rot="-1200000">
            <a:off x="1524000" y="1943100"/>
            <a:ext cx="9144000" cy="2971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endParaRPr lang="en-US" sz="17000" b="1" spc="0" dirty="0">
              <a:solidFill>
                <a:schemeClr val="bg1">
                  <a:lumMod val="85000"/>
                  <a:alpha val="8000"/>
                </a:schemeClr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 badge"/>
          <p:cNvSpPr/>
          <p:nvPr/>
        </p:nvSpPr>
        <p:spPr>
          <a:xfrm>
            <a:off x="475488" y="237744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Slide number text"/>
          <p:cNvSpPr txBox="1"/>
          <p:nvPr/>
        </p:nvSpPr>
        <p:spPr>
          <a:xfrm>
            <a:off x="475488" y="2377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07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1097280" y="2011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Components Used</a:t>
            </a:r>
            <a:endParaRPr lang="en-US" sz="3000" dirty="0"/>
          </a:p>
        </p:txBody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1097280" y="7498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The main hardware behind the ParkEasy prototype</a:t>
            </a:r>
            <a:endParaRPr lang="en-US" sz="1400" dirty="0"/>
          </a:p>
        </p:txBody>
      </p:sp>
      <p:sp>
        <p:nvSpPr>
          <p:cNvPr id="6" name="Component card 1"/>
          <p:cNvSpPr/>
          <p:nvPr/>
        </p:nvSpPr>
        <p:spPr>
          <a:xfrm>
            <a:off x="594360" y="1234440"/>
            <a:ext cx="3566160" cy="2423160"/>
          </a:xfrm>
          <a:prstGeom prst="roundRect">
            <a:avLst>
              <a:gd name="adj" fmla="val 6792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Image backdrop 1"/>
          <p:cNvSpPr/>
          <p:nvPr/>
        </p:nvSpPr>
        <p:spPr>
          <a:xfrm>
            <a:off x="731520" y="1371600"/>
            <a:ext cx="329184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pic>
        <p:nvPicPr>
          <p:cNvPr id="8" name="Image 0" descr="ESP32 / NodeMCU ESP8266 illustr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371600"/>
            <a:ext cx="2011680" cy="1257300"/>
          </a:xfrm>
          <a:prstGeom prst="rect">
            <a:avLst/>
          </a:prstGeom>
        </p:spPr>
      </p:pic>
      <p:sp>
        <p:nvSpPr>
          <p:cNvPr id="9" name="Component name 1"/>
          <p:cNvSpPr txBox="1"/>
          <p:nvPr/>
        </p:nvSpPr>
        <p:spPr>
          <a:xfrm>
            <a:off x="777240" y="274320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ESP32 / NodeMCU ESP8266</a:t>
            </a:r>
            <a:endParaRPr lang="en-US" sz="1600" dirty="0"/>
          </a:p>
        </p:txBody>
      </p:sp>
      <p:sp>
        <p:nvSpPr>
          <p:cNvPr id="10" name="Component use 1"/>
          <p:cNvSpPr txBox="1"/>
          <p:nvPr/>
        </p:nvSpPr>
        <p:spPr>
          <a:xfrm>
            <a:off x="777240" y="30815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Controller: reads sensors, sends data by Wi-Fi</a:t>
            </a:r>
            <a:endParaRPr lang="en-US" sz="1300" dirty="0"/>
          </a:p>
        </p:txBody>
      </p:sp>
      <p:sp>
        <p:nvSpPr>
          <p:cNvPr id="11" name="Component card 2"/>
          <p:cNvSpPr/>
          <p:nvPr/>
        </p:nvSpPr>
        <p:spPr>
          <a:xfrm>
            <a:off x="4343400" y="1234440"/>
            <a:ext cx="3566160" cy="2423160"/>
          </a:xfrm>
          <a:prstGeom prst="roundRect">
            <a:avLst>
              <a:gd name="adj" fmla="val 6792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Image backdrop 2"/>
          <p:cNvSpPr/>
          <p:nvPr/>
        </p:nvSpPr>
        <p:spPr>
          <a:xfrm>
            <a:off x="4480560" y="1371600"/>
            <a:ext cx="329184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pic>
        <p:nvPicPr>
          <p:cNvPr id="13" name="Image 1" descr="IR Sensor (4–8 units) illustra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371600"/>
            <a:ext cx="2011680" cy="1257300"/>
          </a:xfrm>
          <a:prstGeom prst="rect">
            <a:avLst/>
          </a:prstGeom>
        </p:spPr>
      </p:pic>
      <p:sp>
        <p:nvSpPr>
          <p:cNvPr id="14" name="Component name 2"/>
          <p:cNvSpPr txBox="1"/>
          <p:nvPr/>
        </p:nvSpPr>
        <p:spPr>
          <a:xfrm>
            <a:off x="4526280" y="274320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IR Sensor (4–8 units)</a:t>
            </a:r>
            <a:endParaRPr lang="en-US" sz="1600" dirty="0"/>
          </a:p>
        </p:txBody>
      </p:sp>
      <p:sp>
        <p:nvSpPr>
          <p:cNvPr id="15" name="Component use 2"/>
          <p:cNvSpPr txBox="1"/>
          <p:nvPr/>
        </p:nvSpPr>
        <p:spPr>
          <a:xfrm>
            <a:off x="4526280" y="30815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Detects whether a vehicle is in each slot</a:t>
            </a:r>
            <a:endParaRPr lang="en-US" sz="1300" dirty="0"/>
          </a:p>
        </p:txBody>
      </p:sp>
      <p:sp>
        <p:nvSpPr>
          <p:cNvPr id="16" name="Component card 3"/>
          <p:cNvSpPr/>
          <p:nvPr/>
        </p:nvSpPr>
        <p:spPr>
          <a:xfrm>
            <a:off x="8092440" y="1234440"/>
            <a:ext cx="3566160" cy="2423160"/>
          </a:xfrm>
          <a:prstGeom prst="roundRect">
            <a:avLst>
              <a:gd name="adj" fmla="val 6792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Image backdrop 3"/>
          <p:cNvSpPr/>
          <p:nvPr/>
        </p:nvSpPr>
        <p:spPr>
          <a:xfrm>
            <a:off x="8229600" y="1371600"/>
            <a:ext cx="329184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pic>
        <p:nvPicPr>
          <p:cNvPr id="18" name="Image 2" descr="Servo Motor illustrat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0" y="1371600"/>
            <a:ext cx="2011680" cy="1257300"/>
          </a:xfrm>
          <a:prstGeom prst="rect">
            <a:avLst/>
          </a:prstGeom>
        </p:spPr>
      </p:pic>
      <p:sp>
        <p:nvSpPr>
          <p:cNvPr id="19" name="Component name 3"/>
          <p:cNvSpPr txBox="1"/>
          <p:nvPr/>
        </p:nvSpPr>
        <p:spPr>
          <a:xfrm>
            <a:off x="8275320" y="274320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Servo Motor</a:t>
            </a:r>
            <a:endParaRPr lang="en-US" sz="1600" dirty="0"/>
          </a:p>
        </p:txBody>
      </p:sp>
      <p:sp>
        <p:nvSpPr>
          <p:cNvPr id="20" name="Component use 3"/>
          <p:cNvSpPr txBox="1"/>
          <p:nvPr/>
        </p:nvSpPr>
        <p:spPr>
          <a:xfrm>
            <a:off x="8275320" y="308152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Opens and closes the entry barrier</a:t>
            </a:r>
            <a:endParaRPr lang="en-US" sz="1300" dirty="0"/>
          </a:p>
        </p:txBody>
      </p:sp>
      <p:sp>
        <p:nvSpPr>
          <p:cNvPr id="21" name="Component card 4"/>
          <p:cNvSpPr/>
          <p:nvPr/>
        </p:nvSpPr>
        <p:spPr>
          <a:xfrm>
            <a:off x="594360" y="3794760"/>
            <a:ext cx="3566160" cy="2423160"/>
          </a:xfrm>
          <a:prstGeom prst="roundRect">
            <a:avLst>
              <a:gd name="adj" fmla="val 6792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Image backdrop 4"/>
          <p:cNvSpPr/>
          <p:nvPr/>
        </p:nvSpPr>
        <p:spPr>
          <a:xfrm>
            <a:off x="731520" y="3931920"/>
            <a:ext cx="329184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pic>
        <p:nvPicPr>
          <p:cNvPr id="23" name="Image 3" descr="Breadboard + Jumper Wires illustrati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1600" y="3931920"/>
            <a:ext cx="2011680" cy="1257300"/>
          </a:xfrm>
          <a:prstGeom prst="rect">
            <a:avLst/>
          </a:prstGeom>
        </p:spPr>
      </p:pic>
      <p:sp>
        <p:nvSpPr>
          <p:cNvPr id="24" name="Component name 4"/>
          <p:cNvSpPr txBox="1"/>
          <p:nvPr/>
        </p:nvSpPr>
        <p:spPr>
          <a:xfrm>
            <a:off x="777240" y="53035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Breadboard + Jumper Wires</a:t>
            </a:r>
            <a:endParaRPr lang="en-US" sz="1600" dirty="0"/>
          </a:p>
        </p:txBody>
      </p:sp>
      <p:sp>
        <p:nvSpPr>
          <p:cNvPr id="25" name="Component use 4"/>
          <p:cNvSpPr txBox="1"/>
          <p:nvPr/>
        </p:nvSpPr>
        <p:spPr>
          <a:xfrm>
            <a:off x="777240" y="56418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Solder-free circuit connections</a:t>
            </a:r>
            <a:endParaRPr lang="en-US" sz="1300" dirty="0"/>
          </a:p>
        </p:txBody>
      </p:sp>
      <p:sp>
        <p:nvSpPr>
          <p:cNvPr id="26" name="Component card 5"/>
          <p:cNvSpPr/>
          <p:nvPr/>
        </p:nvSpPr>
        <p:spPr>
          <a:xfrm>
            <a:off x="4343400" y="3794760"/>
            <a:ext cx="3566160" cy="2423160"/>
          </a:xfrm>
          <a:prstGeom prst="roundRect">
            <a:avLst>
              <a:gd name="adj" fmla="val 6792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Image backdrop 5"/>
          <p:cNvSpPr/>
          <p:nvPr/>
        </p:nvSpPr>
        <p:spPr>
          <a:xfrm>
            <a:off x="4480560" y="3931920"/>
            <a:ext cx="329184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pic>
        <p:nvPicPr>
          <p:cNvPr id="28" name="Image 4" descr="LEDs and Resistors illustrati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3931920"/>
            <a:ext cx="2011680" cy="1257300"/>
          </a:xfrm>
          <a:prstGeom prst="rect">
            <a:avLst/>
          </a:prstGeom>
        </p:spPr>
      </p:pic>
      <p:sp>
        <p:nvSpPr>
          <p:cNvPr id="29" name="Component name 5"/>
          <p:cNvSpPr txBox="1"/>
          <p:nvPr/>
        </p:nvSpPr>
        <p:spPr>
          <a:xfrm>
            <a:off x="4526280" y="53035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LEDs and Resistors</a:t>
            </a:r>
            <a:endParaRPr lang="en-US" sz="1600" dirty="0"/>
          </a:p>
        </p:txBody>
      </p:sp>
      <p:sp>
        <p:nvSpPr>
          <p:cNvPr id="30" name="Component use 5"/>
          <p:cNvSpPr txBox="1"/>
          <p:nvPr/>
        </p:nvSpPr>
        <p:spPr>
          <a:xfrm>
            <a:off x="4526280" y="56418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Slot indicators: green, red, yellow</a:t>
            </a:r>
            <a:endParaRPr lang="en-US" sz="1300" dirty="0"/>
          </a:p>
        </p:txBody>
      </p:sp>
      <p:sp>
        <p:nvSpPr>
          <p:cNvPr id="31" name="Component card 6"/>
          <p:cNvSpPr/>
          <p:nvPr/>
        </p:nvSpPr>
        <p:spPr>
          <a:xfrm>
            <a:off x="8092440" y="3794760"/>
            <a:ext cx="3566160" cy="2423160"/>
          </a:xfrm>
          <a:prstGeom prst="roundRect">
            <a:avLst>
              <a:gd name="adj" fmla="val 6792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Image backdrop 6"/>
          <p:cNvSpPr/>
          <p:nvPr/>
        </p:nvSpPr>
        <p:spPr>
          <a:xfrm>
            <a:off x="8229600" y="3931920"/>
            <a:ext cx="3291840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pic>
        <p:nvPicPr>
          <p:cNvPr id="33" name="Image 5" descr="Power Supply + USB Cable illustrati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9680" y="3931920"/>
            <a:ext cx="2011680" cy="1257300"/>
          </a:xfrm>
          <a:prstGeom prst="rect">
            <a:avLst/>
          </a:prstGeom>
        </p:spPr>
      </p:pic>
      <p:sp>
        <p:nvSpPr>
          <p:cNvPr id="34" name="Component name 6"/>
          <p:cNvSpPr txBox="1"/>
          <p:nvPr/>
        </p:nvSpPr>
        <p:spPr>
          <a:xfrm>
            <a:off x="8275320" y="530352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Power Supply + USB Cable</a:t>
            </a:r>
            <a:endParaRPr lang="en-US" sz="1600" dirty="0"/>
          </a:p>
        </p:txBody>
      </p:sp>
      <p:sp>
        <p:nvSpPr>
          <p:cNvPr id="35" name="Component use 6"/>
          <p:cNvSpPr txBox="1"/>
          <p:nvPr/>
        </p:nvSpPr>
        <p:spPr>
          <a:xfrm>
            <a:off x="8275320" y="564184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Powers the controller and sensors</a:t>
            </a:r>
            <a:endParaRPr lang="en-US" sz="13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37" name="Footer mask - KSRM removed"/>
          <p:cNvSpPr/>
          <p:nvPr/>
        </p:nvSpPr>
        <p:spPr>
          <a:xfrm>
            <a:off x="1645920" y="6419088"/>
            <a:ext cx="1993392" cy="283464"/>
          </a:xfrm>
          <a:prstGeom prst="rect">
            <a:avLst/>
          </a:prstGeom>
          <a:solidFill>
            <a:srgbClr val="EBF7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NOVA watermark"/>
          <p:cNvSpPr txBox="1"/>
          <p:nvPr userDrawn="1"/>
        </p:nvSpPr>
        <p:spPr>
          <a:xfrm rot="-1200000">
            <a:off x="1524000" y="1943100"/>
            <a:ext cx="9144000" cy="2971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endParaRPr lang="en-US" sz="17000" b="1" spc="0" dirty="0">
              <a:solidFill>
                <a:schemeClr val="bg1">
                  <a:lumMod val="85000"/>
                  <a:alpha val="8000"/>
                </a:schemeClr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ber badge"/>
          <p:cNvSpPr/>
          <p:nvPr/>
        </p:nvSpPr>
        <p:spPr>
          <a:xfrm>
            <a:off x="475488" y="237744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" name="Slide number text"/>
          <p:cNvSpPr txBox="1"/>
          <p:nvPr/>
        </p:nvSpPr>
        <p:spPr>
          <a:xfrm>
            <a:off x="475488" y="2377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08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1097280" y="2011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Innovation, Impact &amp; </a:t>
            </a:r>
            <a:r>
              <a:rPr lang="en-US" sz="3000" b="1">
                <a:solidFill>
                  <a:schemeClr val="tx1"/>
                </a:solidFill>
              </a:rPr>
              <a:t>Team </a:t>
            </a:r>
            <a:endParaRPr lang="en-US" sz="3000" dirty="0"/>
          </a:p>
        </p:txBody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1097280" y="75895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chemeClr val="tx1"/>
                </a:solidFill>
              </a:rPr>
              <a:t>What makes ParkEasy innovative, who is building it, and where it goes next</a:t>
            </a:r>
            <a:endParaRPr lang="en-US" sz="1400" dirty="0"/>
          </a:p>
        </p:txBody>
      </p:sp>
      <p:sp>
        <p:nvSpPr>
          <p:cNvPr id="6" name="Innovation card"/>
          <p:cNvSpPr/>
          <p:nvPr/>
        </p:nvSpPr>
        <p:spPr>
          <a:xfrm>
            <a:off x="594360" y="1188720"/>
            <a:ext cx="5394960" cy="2377440"/>
          </a:xfrm>
          <a:prstGeom prst="roundRect">
            <a:avLst>
              <a:gd name="adj" fmla="val 6923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Innovation heading"/>
          <p:cNvSpPr txBox="1"/>
          <p:nvPr/>
        </p:nvSpPr>
        <p:spPr>
          <a:xfrm>
            <a:off x="868680" y="132588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Key innovations</a:t>
            </a:r>
            <a:endParaRPr lang="en-US" sz="1800" dirty="0"/>
          </a:p>
        </p:txBody>
      </p:sp>
      <p:sp>
        <p:nvSpPr>
          <p:cNvPr id="8" name="Innovation list"/>
          <p:cNvSpPr txBox="1"/>
          <p:nvPr/>
        </p:nvSpPr>
        <p:spPr>
          <a:xfrm>
            <a:off x="868680" y="1755648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Real-time monitoring with automated slot detection</a:t>
            </a:r>
            <a:endParaRPr lang="en-US" sz="14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Numbered parking spaces for easy identification</a:t>
            </a:r>
            <a:endParaRPr lang="en-US" sz="14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Multi-floor parking status management</a:t>
            </a:r>
            <a:endParaRPr lang="en-US" sz="14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Optional automated entry barrier</a:t>
            </a:r>
            <a:endParaRPr lang="en-US" sz="14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/>
              <a:t>Suitable for</a:t>
            </a:r>
            <a:r>
              <a:rPr lang="en-US" sz="1400">
                <a:solidFill>
                  <a:schemeClr val="tx1"/>
                </a:solidFill>
              </a:rPr>
              <a:t> </a:t>
            </a:r>
            <a:r>
              <a:rPr lang="en-US" sz="1400" dirty="0">
                <a:solidFill>
                  <a:schemeClr val="tx1"/>
                </a:solidFill>
              </a:rPr>
              <a:t>colleges, offices, hospitals, malls</a:t>
            </a:r>
            <a:endParaRPr lang="en-US" sz="1400" dirty="0"/>
          </a:p>
        </p:txBody>
      </p:sp>
      <p:sp>
        <p:nvSpPr>
          <p:cNvPr id="9" name="Impact card"/>
          <p:cNvSpPr/>
          <p:nvPr/>
        </p:nvSpPr>
        <p:spPr>
          <a:xfrm>
            <a:off x="6217920" y="1188720"/>
            <a:ext cx="5394960" cy="2377440"/>
          </a:xfrm>
          <a:prstGeom prst="roundRect">
            <a:avLst>
              <a:gd name="adj" fmla="val 6923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Impact heading"/>
          <p:cNvSpPr txBox="1"/>
          <p:nvPr/>
        </p:nvSpPr>
        <p:spPr>
          <a:xfrm>
            <a:off x="6492240" y="132588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Expected impact</a:t>
            </a:r>
            <a:endParaRPr lang="en-US" sz="1800" dirty="0"/>
          </a:p>
        </p:txBody>
      </p:sp>
      <p:sp>
        <p:nvSpPr>
          <p:cNvPr id="11" name="Impact list"/>
          <p:cNvSpPr txBox="1"/>
          <p:nvPr/>
        </p:nvSpPr>
        <p:spPr>
          <a:xfrm>
            <a:off x="6492240" y="1755648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Less time spent searching for parking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Less unnecessary vehicle movement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Better use of existing parking spaces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More organized parking management</a:t>
            </a:r>
            <a:endParaRPr lang="en-US" sz="14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practical, scalable smart-city solution</a:t>
            </a:r>
            <a:endParaRPr lang="en-US" sz="1400" dirty="0"/>
          </a:p>
        </p:txBody>
      </p:sp>
      <p:sp>
        <p:nvSpPr>
          <p:cNvPr id="12" name="Team card"/>
          <p:cNvSpPr/>
          <p:nvPr/>
        </p:nvSpPr>
        <p:spPr>
          <a:xfrm>
            <a:off x="594360" y="3657600"/>
            <a:ext cx="5394960" cy="2377440"/>
          </a:xfrm>
          <a:prstGeom prst="roundRect">
            <a:avLst>
              <a:gd name="adj" fmla="val 6923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am heading"/>
          <p:cNvSpPr txBox="1"/>
          <p:nvPr/>
        </p:nvSpPr>
        <p:spPr>
          <a:xfrm>
            <a:off x="868680" y="379476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Team NOVA </a:t>
            </a:r>
            <a:endParaRPr lang="en-US" sz="1800" dirty="0"/>
          </a:p>
        </p:txBody>
      </p:sp>
      <p:sp>
        <p:nvSpPr>
          <p:cNvPr id="14" name="Badge 1"/>
          <p:cNvSpPr/>
          <p:nvPr/>
        </p:nvSpPr>
        <p:spPr>
          <a:xfrm>
            <a:off x="868680" y="433425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15" name="Role 1"/>
          <p:cNvSpPr txBox="1"/>
          <p:nvPr/>
        </p:nvSpPr>
        <p:spPr>
          <a:xfrm>
            <a:off x="1307592" y="4352544"/>
            <a:ext cx="1929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O Sai praneetha </a:t>
            </a:r>
            <a:endParaRPr lang="en-US" sz="1600" dirty="0"/>
          </a:p>
        </p:txBody>
      </p:sp>
      <p:sp>
        <p:nvSpPr>
          <p:cNvPr id="16" name="Badge 2"/>
          <p:cNvSpPr/>
          <p:nvPr/>
        </p:nvSpPr>
        <p:spPr>
          <a:xfrm>
            <a:off x="868680" y="4901184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Role 2"/>
          <p:cNvSpPr txBox="1"/>
          <p:nvPr/>
        </p:nvSpPr>
        <p:spPr>
          <a:xfrm>
            <a:off x="1307592" y="482803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G Shardul </a:t>
            </a:r>
            <a:endParaRPr lang="en-US" sz="1600" dirty="0"/>
          </a:p>
        </p:txBody>
      </p:sp>
      <p:sp>
        <p:nvSpPr>
          <p:cNvPr id="18" name="Badge 3"/>
          <p:cNvSpPr/>
          <p:nvPr/>
        </p:nvSpPr>
        <p:spPr>
          <a:xfrm>
            <a:off x="868680" y="5468112"/>
            <a:ext cx="347472" cy="347472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Role 3"/>
          <p:cNvSpPr txBox="1"/>
          <p:nvPr/>
        </p:nvSpPr>
        <p:spPr>
          <a:xfrm>
            <a:off x="1307592" y="539496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N Vyshnavi Sukanya </a:t>
            </a:r>
            <a:endParaRPr lang="en-US" sz="1600" dirty="0"/>
          </a:p>
        </p:txBody>
      </p:sp>
      <p:sp>
        <p:nvSpPr>
          <p:cNvPr id="20" name="Badge 4"/>
          <p:cNvSpPr/>
          <p:nvPr/>
        </p:nvSpPr>
        <p:spPr>
          <a:xfrm>
            <a:off x="3429000" y="4334256"/>
            <a:ext cx="347472" cy="347472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Role 4"/>
          <p:cNvSpPr txBox="1"/>
          <p:nvPr/>
        </p:nvSpPr>
        <p:spPr>
          <a:xfrm>
            <a:off x="3867912" y="4261104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K Sravani</a:t>
            </a:r>
            <a:endParaRPr lang="en-US" sz="1600" dirty="0"/>
          </a:p>
        </p:txBody>
      </p:sp>
      <p:sp>
        <p:nvSpPr>
          <p:cNvPr id="22" name="Badge 5"/>
          <p:cNvSpPr/>
          <p:nvPr/>
        </p:nvSpPr>
        <p:spPr>
          <a:xfrm>
            <a:off x="3429000" y="4901184"/>
            <a:ext cx="347472" cy="347472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Role 5"/>
          <p:cNvSpPr txBox="1"/>
          <p:nvPr/>
        </p:nvSpPr>
        <p:spPr>
          <a:xfrm>
            <a:off x="3867912" y="4828032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/>
              <a:t>M Renu Sree </a:t>
            </a:r>
          </a:p>
        </p:txBody>
      </p:sp>
      <p:sp>
        <p:nvSpPr>
          <p:cNvPr id="24" name="Badge 6"/>
          <p:cNvSpPr/>
          <p:nvPr/>
        </p:nvSpPr>
        <p:spPr>
          <a:xfrm>
            <a:off x="3429000" y="5468112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25" name="Role 6"/>
          <p:cNvSpPr txBox="1"/>
          <p:nvPr/>
        </p:nvSpPr>
        <p:spPr>
          <a:xfrm>
            <a:off x="3867912" y="5394960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 Niranjan </a:t>
            </a:r>
            <a:endParaRPr lang="en-US" sz="1600" dirty="0"/>
          </a:p>
        </p:txBody>
      </p:sp>
      <p:sp>
        <p:nvSpPr>
          <p:cNvPr id="26" name="Future card"/>
          <p:cNvSpPr/>
          <p:nvPr/>
        </p:nvSpPr>
        <p:spPr>
          <a:xfrm>
            <a:off x="6217920" y="3657600"/>
            <a:ext cx="5394960" cy="2377440"/>
          </a:xfrm>
          <a:prstGeom prst="roundRect">
            <a:avLst>
              <a:gd name="adj" fmla="val 6923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Future heading"/>
          <p:cNvSpPr txBox="1"/>
          <p:nvPr/>
        </p:nvSpPr>
        <p:spPr>
          <a:xfrm>
            <a:off x="6492240" y="379476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Future scope</a:t>
            </a:r>
            <a:endParaRPr lang="en-US" sz="1800" dirty="0"/>
          </a:p>
        </p:txBody>
      </p:sp>
      <p:sp>
        <p:nvSpPr>
          <p:cNvPr id="28" name="Future list"/>
          <p:cNvSpPr txBox="1"/>
          <p:nvPr/>
        </p:nvSpPr>
        <p:spPr>
          <a:xfrm>
            <a:off x="6492240" y="4224528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Mobile app for parking availability</a:t>
            </a:r>
            <a:endParaRPr lang="en-US" sz="14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QR-code or digital parking reservations</a:t>
            </a:r>
            <a:endParaRPr lang="en-US" sz="14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Automated entry and exit management</a:t>
            </a:r>
            <a:endParaRPr lang="en-US" sz="14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Multi-floor parking navigation</a:t>
            </a:r>
            <a:endParaRPr lang="en-US" sz="1400" dirty="0"/>
          </a:p>
        </p:txBody>
      </p:sp>
      <p:sp>
        <p:nvSpPr>
          <p:cNvPr id="29" name="Closing line"/>
          <p:cNvSpPr txBox="1"/>
          <p:nvPr/>
        </p:nvSpPr>
        <p:spPr>
          <a:xfrm>
            <a:off x="594360" y="612648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2"/>
                </a:solidFill>
              </a:rPr>
              <a:t>PARK EASY — Making Every Parking Space Count |   Presented by Team NOVA  •  YUKTHI 2026  •  KSRMCE</a:t>
            </a:r>
            <a:endParaRPr lang="en-US" sz="13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73952"/>
            <a:ext cx="64008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31" name="NOVA watermark"/>
          <p:cNvSpPr txBox="1"/>
          <p:nvPr userDrawn="1"/>
        </p:nvSpPr>
        <p:spPr>
          <a:xfrm rot="-1200000">
            <a:off x="1524000" y="1943100"/>
            <a:ext cx="9144000" cy="2971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endParaRPr lang="en-US" sz="17000" b="1" spc="0" dirty="0">
              <a:solidFill>
                <a:schemeClr val="bg1">
                  <a:lumMod val="85000"/>
                  <a:alpha val="8000"/>
                </a:schemeClr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kEasy">
  <a:themeElements>
    <a:clrScheme name="ParkEasy">
      <a:dk1>
        <a:srgbClr val="183B5C"/>
      </a:dk1>
      <a:lt1>
        <a:srgbClr val="FFFFFF"/>
      </a:lt1>
      <a:dk2>
        <a:srgbClr val="54697A"/>
      </a:dk2>
      <a:lt2>
        <a:srgbClr val="EBF7FC"/>
      </a:lt2>
      <a:accent1>
        <a:srgbClr val="3F8EC3"/>
      </a:accent1>
      <a:accent2>
        <a:srgbClr val="26A69A"/>
      </a:accent2>
      <a:accent3>
        <a:srgbClr val="7163C2"/>
      </a:accent3>
      <a:accent4>
        <a:srgbClr val="EF6F6C"/>
      </a:accent4>
      <a:accent5>
        <a:srgbClr val="F5A623"/>
      </a:accent5>
      <a:accent6>
        <a:srgbClr val="D6E8F1"/>
      </a:accent6>
      <a:hlink>
        <a:srgbClr val="3F8EC3"/>
      </a:hlink>
      <a:folHlink>
        <a:srgbClr val="7163C2"/>
      </a:folHlink>
    </a:clrScheme>
    <a:fontScheme name="ParkEasy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1005</Words>
  <Application>Microsoft Office PowerPoint</Application>
  <PresentationFormat>Widescreen</PresentationFormat>
  <Paragraphs>214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ParkEasy</vt:lpstr>
      <vt:lpstr>PowerPoint Presentation</vt:lpstr>
      <vt:lpstr>Problem Statement</vt:lpstr>
      <vt:lpstr>Proposed Solution</vt:lpstr>
      <vt:lpstr>Key Features</vt:lpstr>
      <vt:lpstr>Implementation Approach</vt:lpstr>
      <vt:lpstr>Budget &amp; Components</vt:lpstr>
      <vt:lpstr>Components Used</vt:lpstr>
      <vt:lpstr>Innovation, Impact &amp; Team </vt:lpstr>
    </vt:vector>
  </TitlesOfParts>
  <Company>KSRM College of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Park Easy - The AI Parking Assistant</dc:title>
  <dc:subject>PptxGenJS Presentation</dc:subject>
  <dc:creator>Team NOVA</dc:creator>
  <cp:lastModifiedBy>sai praneetha</cp:lastModifiedBy>
  <cp:revision>7</cp:revision>
  <dcterms:created xsi:type="dcterms:W3CDTF">2026-10-18T06:21:05Z</dcterms:created>
  <dcterms:modified xsi:type="dcterms:W3CDTF">2026-10-20T06:24:31Z</dcterms:modified>
</cp:coreProperties>
</file>